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微软雅黑" panose="020B0503020204020204" charset="-122"/>
              </a:rPr>
              <a:t>AI 技术全景科普</a:t>
            </a:r>
            <a:endParaRPr sz="5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64008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6E0"/>
                </a:solidFill>
                <a:latin typeface="微软雅黑" panose="020B0503020204020204" charset="-122"/>
              </a:rPr>
              <a:t>从底层理论到应用实践 · 认知对齐全景视图</a:t>
            </a:r>
            <a:endParaRPr sz="2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0B4"/>
                </a:solidFill>
                <a:latin typeface="微软雅黑" panose="020B0503020204020204" charset="-122"/>
              </a:rPr>
              <a:t>七大分层  ·  19章内容  ·  30个关键术语</a:t>
            </a:r>
            <a:endParaRPr sz="16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A0B4"/>
                </a:solidFill>
                <a:latin typeface="微软雅黑" panose="020B0503020204020204" charset="-122"/>
              </a:rPr>
              <a:t>2026年5月</a:t>
            </a:r>
            <a:endParaRPr sz="14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目  录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7498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11795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AI 理论基础层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15453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神经网络 · Transformer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457200" cy="7498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2093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大模型技术层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4597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LLM · Token · 提示词工程 · 模型对比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457200" cy="7498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30083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大模型接入与部署层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33741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六大接入方案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0" y="114300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143000"/>
            <a:ext cx="457200" cy="7498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49440" y="11795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Agent 智能体技术层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49440" y="15453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Agent · 上下文管理 · MCP · 开发框架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205740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057400"/>
            <a:ext cx="457200" cy="749808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49440" y="2093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AI 操作系统与工程层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49440" y="24597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AgentOS · Harness 工程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00800" y="297180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971800"/>
            <a:ext cx="457200" cy="7498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49440" y="30083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AI 应用实践层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49440" y="33741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AI 编程 · 企业落地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00800" y="388620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886200"/>
            <a:ext cx="457200" cy="7498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49440" y="39227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未来展望与总结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49440" y="42885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技术趋势 · 核心认知框架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5FF"/>
                </a:solidFill>
                <a:latin typeface="微软雅黑" panose="020B0503020204020204" charset="-122"/>
              </a:rPr>
              <a:t>第一部分</a:t>
            </a:r>
            <a:endParaRPr sz="2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AI 理论基础层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01 · 神经网络：AI的智能源头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3291840"/>
            <a:ext cx="459994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02 · Transformer：当前AI的标准架构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第一部分 · 01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神经网络：AI 的智能源头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是什么？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6363335" cy="93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受生物大脑神经元连接方式启发的计算模型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通过大量数据"训练"，让机器自动学习规律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所有深度学习模型（CNN / RNN / Transformer）的共同根基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类比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54864" cy="5486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如同"图灵机"之于计算机科学，
神经网络是 AI 领域的理论基础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05015" y="1508760"/>
            <a:ext cx="4325620" cy="34747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650" y="1645920"/>
            <a:ext cx="428879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  <a:latin typeface="微软雅黑" panose="020B0503020204020204" charset="-122"/>
              </a:rPr>
              <a:t>关键认知</a:t>
            </a:r>
            <a:endParaRPr sz="17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47255" y="2011680"/>
            <a:ext cx="4186555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方法论层面的理论基础，不是具体算法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无需理解反向传播、梯度下降等数学细节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只需记住：它能通过学习数据找到规律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地位 = 所有 AI 模型的共同祖先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第一部分 · 02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Transformer：当前 AI 的标准架构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566160" cy="3840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566160" cy="4114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📅 提出背景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2017年 Google 论文
《Attention is All You Need》
解决了传统 RNN 只能
顺序处理的效率瓶颈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1508760"/>
            <a:ext cx="3566160" cy="3840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566160" cy="411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⚡ 核心创新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自注意力机制
→ 让模型看到全文抓住重点
完全并行化设计
→ 训练效率大幅提升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3566160" cy="3840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356616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🏆 历史地位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几乎所有大模型（GPT、
Claude、Llama...）的底层架构
类比 x86 指令集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E5FF"/>
                </a:solidFill>
                <a:latin typeface="微软雅黑" panose="020B0503020204020204" charset="-122"/>
              </a:rPr>
              <a:t>关键认知：Transformer 不是算法，而是一种神经网络结构设计 —— 让模型"看到全文并抓住重点"</a:t>
            </a:r>
            <a:endParaRPr sz="15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5FF"/>
                </a:solidFill>
                <a:latin typeface="微软雅黑" panose="020B0503020204020204" charset="-122"/>
              </a:rPr>
              <a:t>第二部分</a:t>
            </a:r>
            <a:endParaRPr sz="2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大模型技术层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03 · LLM 大语言模型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04 · Token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05 · 工作原理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07008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06 · 提示词工程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91056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07 · 主流模型对比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第二部分 · 03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大语言模型（LLM）：AI 的"大脑"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是什么？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基于 Transformer 架构训练的超大规模模型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参数量从 7B 到 1.6T（B=十亿，T=万亿）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知识沉淀在"权重"中，类似人类长期记忆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需要 GPU / TPU 集群的强大算力支撑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两种架构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稠密模型 — 所有参数都参与计算（直接，但耗算力）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MoE 模型 — 按需激活部分"专家"（知识多省算力）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5303520" cy="41148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  <a:latin typeface="微软雅黑" panose="020B0503020204020204" charset="-122"/>
              </a:rPr>
              <a:t>代表模型（2026年）</a:t>
            </a:r>
            <a:endParaRPr sz="17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37960" y="2148840"/>
            <a:ext cx="4937760" cy="530352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148840"/>
            <a:ext cx="109728" cy="5303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203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GPT-4o / GPT-5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0120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OpenAI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37960" y="2807208"/>
            <a:ext cx="4937760" cy="530352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807208"/>
            <a:ext cx="109728" cy="5303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862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Claude 3.5 Opus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Anthropic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37960" y="3465576"/>
            <a:ext cx="4937760" cy="530352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3465576"/>
            <a:ext cx="109728" cy="5303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DeepSeek-V4-Pro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0" y="3557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深度求索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37960" y="4123944"/>
            <a:ext cx="4937760" cy="530352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4123944"/>
            <a:ext cx="109728" cy="5303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788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GLM-5.1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0" y="421538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智谱 AI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37960" y="4782312"/>
            <a:ext cx="4937760" cy="530352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4782312"/>
            <a:ext cx="109728" cy="530352"/>
          </a:xfrm>
          <a:prstGeom prst="rect">
            <a:avLst/>
          </a:prstGeom>
          <a:solidFill>
            <a:srgbClr val="88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8371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Llama 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0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Meta（开源）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5394960"/>
            <a:ext cx="54864" cy="5486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394960"/>
            <a:ext cx="534987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大模型 = 特定架构 + 海量数据 + 训练策略的产物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不是新算法，而是"知识储备巨大的智能体"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第二部分 · 04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Token：大模型理解文字的基本单元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是什么？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模型处理文本时的最小语义单位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介于"字"和"词"之间的模型专用编码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每个模型有自己的"词汇表"（Tokenizer）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类比：摩斯密码 —— 模型专用的编码方式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为什么重要？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API 计费：按输入 + 输出总 Token 数收费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上下文限制：模型最大处理量（如 128K tokens）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响应速度：Token 越多 → 越慢 + 成本越高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5303520" cy="42976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A500"/>
                </a:solidFill>
                <a:latin typeface="微软雅黑" panose="020B0503020204020204" charset="-122"/>
              </a:rPr>
              <a:t>⚠️ 常见误区纠正</a:t>
            </a:r>
            <a:endParaRPr sz="17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37960" y="2148840"/>
            <a:ext cx="4937760" cy="105156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21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微软雅黑" panose="020B0503020204020204" charset="-122"/>
              </a:rPr>
              <a:t>❌ Token ≠ 单词</a:t>
            </a:r>
            <a:endParaRPr sz="14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E676"/>
                </a:solidFill>
                <a:latin typeface="微软雅黑" panose="020B0503020204020204" charset="-122"/>
              </a:rPr>
              <a:t>✅ 可能是子词、字或符号</a:t>
            </a:r>
            <a:endParaRPr sz="1400" b="0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37960" y="3383280"/>
            <a:ext cx="4937760" cy="105156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456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微软雅黑" panose="020B0503020204020204" charset="-122"/>
              </a:rPr>
              <a:t>❌ 中文一字 ≠ 一 Token</a:t>
            </a:r>
            <a:endParaRPr sz="14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E676"/>
                </a:solidFill>
                <a:latin typeface="微软雅黑" panose="020B0503020204020204" charset="-122"/>
              </a:rPr>
              <a:t>✅ 高频词常是1个，生僻组合被拆</a:t>
            </a:r>
            <a:endParaRPr sz="1400" b="0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4617720"/>
            <a:ext cx="4937760" cy="105156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690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微软雅黑" panose="020B0503020204020204" charset="-122"/>
              </a:rPr>
              <a:t>❌ 各模型 Token 不通用</a:t>
            </a:r>
            <a:endParaRPr sz="14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5074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E676"/>
                </a:solidFill>
                <a:latin typeface="微软雅黑" panose="020B0503020204020204" charset="-122"/>
              </a:rPr>
              <a:t>✅ 不同模型分词规则完全不同</a:t>
            </a:r>
            <a:endParaRPr sz="1400" b="0">
              <a:solidFill>
                <a:srgbClr val="00E6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第二部分 · 05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大模型如何工作：从输入到输出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011680" cy="13716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011680" cy="38404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①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用户输入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提问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77440" y="187451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A8FF"/>
                </a:solidFill>
                <a:latin typeface="微软雅黑" panose="020B0503020204020204" charset="-122"/>
              </a:rPr>
              <a:t>›</a:t>
            </a:r>
            <a:endParaRPr sz="28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51760" y="1508760"/>
            <a:ext cx="2011680" cy="13716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2011680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②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80" y="1572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分词编码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88920" y="2011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Token化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63440" y="187451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A8FF"/>
                </a:solidFill>
                <a:latin typeface="微软雅黑" panose="020B0503020204020204" charset="-122"/>
              </a:rPr>
              <a:t>›</a:t>
            </a:r>
            <a:endParaRPr sz="28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37760" y="1508760"/>
            <a:ext cx="2011680" cy="13716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2011680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③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40680" y="1572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模型计算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74920" y="2011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矩阵运算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49440" y="187451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A8FF"/>
                </a:solidFill>
                <a:latin typeface="微软雅黑" panose="020B0503020204020204" charset="-122"/>
              </a:rPr>
              <a:t>›</a:t>
            </a:r>
            <a:endParaRPr sz="28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23760" y="1508760"/>
            <a:ext cx="2011680" cy="13716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1508760"/>
            <a:ext cx="201168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④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26680" y="1572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生成输出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60920" y="2011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逐词预测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35440" y="187451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A8FF"/>
                </a:solidFill>
                <a:latin typeface="微软雅黑" panose="020B0503020204020204" charset="-122"/>
              </a:rPr>
              <a:t>›</a:t>
            </a:r>
            <a:endParaRPr sz="28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509760" y="1508760"/>
            <a:ext cx="2011680" cy="13716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508760"/>
            <a:ext cx="2011680" cy="384048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⑤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12680" y="1572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返回用户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6920" y="2011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解码还原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3200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关键机制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3611880"/>
            <a:ext cx="5303520" cy="20116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上下文窗口（Context Window）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模型每次能处理的最大信息量（如 128K tokens）
类比：大脑的"工作记忆"容量
超出则自动截断或压缩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0" y="3611880"/>
            <a:ext cx="5303520" cy="20116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500"/>
                </a:solidFill>
                <a:latin typeface="微软雅黑" panose="020B0503020204020204" charset="-122"/>
              </a:rPr>
              <a:t>解码策略（温度参数）</a:t>
            </a:r>
            <a:endParaRPr sz="15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3796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Temperature 高 → 更有创意 / 更随机
Temperature 低 → 更保守 / 更确定
Top-p 采样：平衡质量与多样性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54864" cy="548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806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大模型的工作本质 = 查字典 + 续写 —— 预测"下一个最可能的词"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第二部分 · 06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提示词工程：如何与 AI 高效沟通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为什么需要"工程化"思维？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大模型本身有不确定性和模糊性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同一问题，不同写法输出差异巨大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600">
                <a:solidFill>
                  <a:srgbClr val="CCD6E0"/>
                </a:solidFill>
                <a:latin typeface="微软雅黑" panose="020B0503020204020204" charset="-122"/>
              </a:rPr>
              <a:t>需要系统性设计输入，才能稳定输出</a:t>
            </a:r>
            <a:endParaRPr sz="16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类比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54864" cy="5486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写一份清晰的"需求文档"——
模糊需求进，模糊结果出；
精准需求进，稳定结果出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68235" y="1463040"/>
            <a:ext cx="3961765" cy="4711065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1115" y="1600200"/>
            <a:ext cx="3688715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  <a:latin typeface="微软雅黑" panose="020B0503020204020204" charset="-122"/>
              </a:rPr>
              <a:t>四大核心技巧</a:t>
            </a:r>
            <a:endParaRPr sz="17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5395" y="2103120"/>
            <a:ext cx="3688715" cy="86868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2555" y="2148840"/>
            <a:ext cx="341566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1. 明确角色和任务边界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42555" y="2514600"/>
            <a:ext cx="341566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让 AI 知道"它是谁"、"要做什么"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05395" y="3108960"/>
            <a:ext cx="3688715" cy="86868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2555" y="3154680"/>
            <a:ext cx="341566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2. 提供示例和格式要求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42555" y="3520440"/>
            <a:ext cx="341566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减少 AI 对意图的理解偏差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05395" y="4114800"/>
            <a:ext cx="3688715" cy="86868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2555" y="4160520"/>
            <a:ext cx="341566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3. 思维链引导推理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42555" y="4526280"/>
            <a:ext cx="341566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让 AI "一步步思考"再给答案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605395" y="5120640"/>
            <a:ext cx="3688715" cy="86868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2555" y="5166360"/>
            <a:ext cx="341566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4. 限制知识源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42555" y="5532120"/>
            <a:ext cx="341566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防止 AI 编造答案（结合 RAG）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852160"/>
            <a:ext cx="684720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E5FF"/>
                </a:solidFill>
                <a:latin typeface="微软雅黑" panose="020B0503020204020204" charset="-122"/>
              </a:rPr>
              <a:t>提示词工程 = 用系统性方法，把人类意图精准翻译成 AI 能稳定执行的指令</a:t>
            </a:r>
            <a:endParaRPr sz="15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第二部分 · 07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主流大模型能力对比（2026年5月）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657600" cy="4114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🖥️ 编程 / 代码生成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365760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🥇 第1名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Claude Opus 4.7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52015" y="2057400"/>
            <a:ext cx="187134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Anthropic · 闭源最强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365760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🥈 第2名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GLM-5.1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27605" y="2971800"/>
            <a:ext cx="159575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智谱 AI · 开源可用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365760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🥉 第3名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2245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GPT-5.5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63825" y="3930650"/>
            <a:ext cx="135953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OpenAI · 新发布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97680" y="1508760"/>
            <a:ext cx="3657600" cy="411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536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🧠 综合能力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97680" y="2011680"/>
            <a:ext cx="365760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🥇 第1名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23957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DeepSeek-V4-Pro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40880" y="2057400"/>
            <a:ext cx="9144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深度求索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97680" y="2926080"/>
            <a:ext cx="365760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2971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🥈 第2名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89120" y="33101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豆包 Seed 2.0 Pro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0880" y="2971800"/>
            <a:ext cx="90995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字节跳动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297680" y="3840480"/>
            <a:ext cx="365760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🥉 第3名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89120" y="42245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GLM-5.1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64705" y="3886200"/>
            <a:ext cx="79057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智谱 AI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0" y="1508760"/>
            <a:ext cx="365760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536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🎨 文生图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29600" y="2011680"/>
            <a:ext cx="365760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2057400"/>
            <a:ext cx="147955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🌏 国内第1</a:t>
            </a:r>
            <a:endParaRPr sz="14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21040" y="23957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Doubao-Seed-2.0-Pro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059795" y="2011680"/>
            <a:ext cx="82740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字节跳动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229600" y="2926080"/>
            <a:ext cx="365760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2971800"/>
            <a:ext cx="17621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🌍 全球第1</a:t>
            </a:r>
            <a:endParaRPr sz="14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21040" y="33101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Nano Banana 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162030" y="2926080"/>
            <a:ext cx="72517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Google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4983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A500"/>
                </a:solidFill>
                <a:latin typeface="微软雅黑" panose="020B0503020204020204" charset="-122"/>
              </a:rPr>
              <a:t>选型建议</a:t>
            </a:r>
            <a:endParaRPr sz="17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" y="5440680"/>
            <a:ext cx="3749039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· 长文档 / 多轮复杂对话 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 </a:t>
            </a:r>
            <a:r>
              <a:rPr lang="en-US" sz="1300" b="0">
                <a:solidFill>
                  <a:srgbClr val="CCD6E0"/>
                </a:solidFill>
                <a:latin typeface="微软雅黑" panose="020B0503020204020204" charset="-122"/>
              </a:rPr>
              <a:t>    </a:t>
            </a:r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→ 优先选长上下文模型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89120" y="5440680"/>
            <a:ext cx="3749039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· 高精度推理 / 代码生成 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  <a:p>
            <a:pPr algn="l"/>
            <a:r>
              <a:rPr sz="1300">
                <a:solidFill>
                  <a:srgbClr val="CCD6E0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lang="en-US" sz="1300">
                <a:solidFill>
                  <a:srgbClr val="CCD6E0"/>
                </a:solidFill>
                <a:latin typeface="微软雅黑" panose="020B0503020204020204" charset="-122"/>
                <a:sym typeface="+mn-ea"/>
              </a:rPr>
              <a:t>    </a:t>
            </a:r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→ 优先选大参数模型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21040" y="5440680"/>
            <a:ext cx="3749039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· 本地部署 / 资源受限 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  <a:p>
            <a:pPr algn="l"/>
            <a:r>
              <a:rPr sz="1300">
                <a:solidFill>
                  <a:srgbClr val="CCD6E0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lang="en-US" sz="1300">
                <a:solidFill>
                  <a:srgbClr val="CCD6E0"/>
                </a:solidFill>
                <a:latin typeface="微软雅黑" panose="020B0503020204020204" charset="-122"/>
                <a:sym typeface="+mn-ea"/>
              </a:rPr>
              <a:t>    </a:t>
            </a:r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→ 选小参数 + 长上下文优化模型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5FF"/>
                </a:solidFill>
                <a:latin typeface="微软雅黑" panose="020B0503020204020204" charset="-122"/>
              </a:rPr>
              <a:t>第三部分</a:t>
            </a:r>
            <a:endParaRPr sz="2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大模型接入与部署层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08 · 六大接入方案（L1～L6）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第三部分 · 08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六大接入方案：从公有云到自建数据中心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02920" cy="36576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2560320" cy="36576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方案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2011680" cy="36576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527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适用规模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32120" y="1508760"/>
            <a:ext cx="2560320" cy="36576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52704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优势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2377440" cy="36576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527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劣势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1938528"/>
            <a:ext cx="11247120" cy="65836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938528"/>
            <a:ext cx="502920" cy="65836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2103120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L1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202996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公有云 API 调用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20439" y="20299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入门级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77840" y="202996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零运维 · 快速上手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83880" y="20299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数据安全隐患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" y="2651760"/>
            <a:ext cx="11247120" cy="658368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51760"/>
            <a:ext cx="502920" cy="6583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81635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L2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274320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桌面/工作站部署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20439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1-5人小团队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77840" y="274320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数据私有 · 离线可用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83880" y="2743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并发弱 · 门槛高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40" y="3364992"/>
            <a:ext cx="11247120" cy="65836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364992"/>
            <a:ext cx="502920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3529584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L3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" y="345643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云平台私有化部署 ⭐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20439" y="34564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中大型企业（推荐）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77840" y="345643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安全合规 · 弹性扩展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3880" y="34564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厂商绑定风险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0040" y="4078224"/>
            <a:ext cx="11247120" cy="658368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078224"/>
            <a:ext cx="502920" cy="6583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4242816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L4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4400" y="4169663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专业 AI 服务器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20439" y="4169663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超大规模算力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577840" y="4169663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极致性能 · 软硬一体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183880" y="4169663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成本极高（百万起）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20040" y="4791456"/>
            <a:ext cx="11247120" cy="65836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4791456"/>
            <a:ext cx="502920" cy="658368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" y="4956048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L5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4400" y="4882896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IDC 硬件托管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520439" y="488289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重资产自主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577840" y="4882896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物理安全 · 资产归属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83880" y="48828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重资产 · 持续 OPEX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20040" y="5504688"/>
            <a:ext cx="11247120" cy="658368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5504688"/>
            <a:ext cx="502920" cy="6583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" y="5669280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L6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400" y="55961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完全自建数据中心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20439" y="55961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终极自主可控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577840" y="55961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长期成本最优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183880" y="55961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天文数字投资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28930" y="6236208"/>
            <a:ext cx="54864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7035" y="6236335"/>
            <a:ext cx="10977245" cy="5486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对绝大多数企业而言，L3（云平台私有化部署）是 2026 年最成熟、最可靠的选择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1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5FF"/>
                </a:solidFill>
                <a:latin typeface="微软雅黑" panose="020B0503020204020204" charset="-122"/>
              </a:rPr>
              <a:t>第四部分</a:t>
            </a:r>
            <a:endParaRPr sz="2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Agent 智能体技术层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09 · Agent 概念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10 · Agent 核心能力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3291840"/>
            <a:ext cx="365760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11 · 上下文管理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07008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12 · MCP 协议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91056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13 · 开发框架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第四部分 · 09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Agent：从"大脑"到"数字员工"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大模型 vs Agent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03520" cy="11887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91440" cy="11887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传统大模型（GPT、Claude）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= 超强大脑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只能"想"和"说"，不能"做"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303520" cy="11887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91440" cy="1188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Agent（智能体）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= 完整的人</a:t>
            </a:r>
            <a:endParaRPr sz="14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大脑 + 感官 + 四肢 + 规矩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45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  <a:latin typeface="微软雅黑" panose="020B0503020204020204" charset="-122"/>
              </a:rPr>
              <a:t>Agent 的"身体构成"</a:t>
            </a:r>
            <a:endParaRPr sz="17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 panose="020B0503020204020204" charset="-122"/>
              </a:rPr>
              <a:t>🧠</a:t>
            </a:r>
            <a:endParaRPr sz="2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大脑 (LLM)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6600" y="24963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思考 · 规划 · 决策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 panose="020B0503020204020204" charset="-122"/>
              </a:rPr>
              <a:t>👀</a:t>
            </a:r>
            <a:endParaRPr sz="2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660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眼睛 (输入)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86600" y="34107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读网页 · 看文件 · 识图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3680" y="3977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 panose="020B0503020204020204" charset="-122"/>
              </a:rPr>
              <a:t>✋</a:t>
            </a:r>
            <a:endParaRPr sz="2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8660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手 (输出)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86600" y="43251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调 API · 点按钮 · 写代码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 panose="020B0503020204020204" charset="-122"/>
              </a:rPr>
              <a:t>📜</a:t>
            </a:r>
            <a:endParaRPr sz="2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866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规矩 (规则)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86600" y="52395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行为约束 · 权限边界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5074920"/>
            <a:ext cx="54864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074920"/>
            <a:ext cx="107899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Agent = 一个由 AI 驱动的"数字打工人" 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 </a:t>
            </a:r>
            <a:r>
              <a:rPr lang="en-US" sz="1500" b="0">
                <a:solidFill>
                  <a:srgbClr val="CCD6E0"/>
                </a:solidFill>
                <a:latin typeface="微软雅黑" panose="020B0503020204020204" charset="-122"/>
              </a:rPr>
              <a:t>   </a:t>
            </a:r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—— 你给目标，它跑全程，有脑子、有手脚、守规矩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第四部分 · 10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Agent 的核心能力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657600" cy="2194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57600" cy="38404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上下文编排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整合多源信息
决定"此刻 LLM 需要知道什么"
类比：人的注意力分配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3657600" cy="2194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08760"/>
            <a:ext cx="3657600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636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记忆管理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短期对话记忆 + 长期知识库
自动摘要 · 关键信息提取
类比：工作记忆 + 长期记忆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3657600" cy="2194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3657600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636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工具调用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连接外部能力（API · 数据库）
自动处理认证 · 限流 · 重试
类比：人的"手"能操作各种工具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3657600" cy="2194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365760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325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任务规划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多步骤分解（订票→查航班→支付）
自我验证 · 错误回溯
类比：人的执行力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51960" y="3977639"/>
            <a:ext cx="3657600" cy="2194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977639"/>
            <a:ext cx="3657600" cy="384048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0325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状态维护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43400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解析"它""上次说的"等指代
多轮对话中保持任务连贯
类比：对话连续性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38160" y="3977639"/>
            <a:ext cx="3657600" cy="219456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6907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500"/>
                </a:solidFill>
                <a:latin typeface="微软雅黑" panose="020B0503020204020204" charset="-122"/>
              </a:rPr>
              <a:t>如何评价 Agent 好坏？</a:t>
            </a:r>
            <a:endParaRPr sz="14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75320" y="44805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上下文效率（是否精简高效）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75320" y="487375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资源消耗（成本是否可控）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75320" y="52669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任务成功率（能否完成任务）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75320" y="56601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用户体验（是否流畅自然）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第四部分 · 11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上下文管理：让 AI "知道更多" 的多种手段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核心问题：LLM 的知识训练时"冻结"，不知道私有信息，也不了解最新动态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解决思路：在对话前/中，把"所需知识"动态注入上下文窗口  →  上下文管理工具箱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2176272" cy="33832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468880"/>
            <a:ext cx="2176272" cy="38404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RAG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79" y="2971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FF"/>
                </a:solidFill>
                <a:latin typeface="微软雅黑" panose="020B0503020204020204" charset="-122"/>
              </a:rPr>
              <a:t>核心机制</a:t>
            </a:r>
            <a:endParaRPr sz="11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79" y="3291840"/>
            <a:ext cx="20116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向量数据库语义检索</a:t>
            </a:r>
            <a:r>
              <a:rPr lang="zh-CN" sz="1200" b="0">
                <a:solidFill>
                  <a:srgbClr val="CCD6E0"/>
                </a:solidFill>
                <a:latin typeface="微软雅黑" panose="020B0503020204020204" charset="-122"/>
              </a:rPr>
              <a:t>，</a:t>
            </a:r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把最相关文档片段注入上下文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4480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FF"/>
                </a:solidFill>
                <a:latin typeface="微软雅黑" panose="020B0503020204020204" charset="-122"/>
              </a:rPr>
              <a:t>适合场景</a:t>
            </a:r>
            <a:endParaRPr sz="11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79" y="4800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企业知识库问答
文档检索 · 实时资料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51760" y="2468880"/>
            <a:ext cx="2176272" cy="33832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2468880"/>
            <a:ext cx="2176272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Skill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2971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  <a:latin typeface="微软雅黑" panose="020B0503020204020204" charset="-122"/>
              </a:rPr>
              <a:t>核心机制</a:t>
            </a:r>
            <a:endParaRPr sz="11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4320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将领域工作流封装为
可调用模块，按需激活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43200" y="4480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  <a:latin typeface="微软雅黑" panose="020B0503020204020204" charset="-122"/>
              </a:rPr>
              <a:t>适合场景</a:t>
            </a:r>
            <a:endParaRPr sz="11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0" y="4800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高频重复任务
标准化业务流程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83479" y="2468880"/>
            <a:ext cx="2176272" cy="33832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79" y="2468880"/>
            <a:ext cx="2176272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19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Wiki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74919" y="2971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  <a:latin typeface="微软雅黑" panose="020B0503020204020204" charset="-122"/>
              </a:rPr>
              <a:t>核心机制</a:t>
            </a:r>
            <a:endParaRPr sz="11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4919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预先整理的结构化文档
按需注入特定条目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74919" y="4480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  <a:latin typeface="微软雅黑" panose="020B0503020204020204" charset="-122"/>
              </a:rPr>
              <a:t>适合场景</a:t>
            </a:r>
            <a:endParaRPr sz="11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74919" y="4800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产品说明书
FAQ · 操作手册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315199" y="2468880"/>
            <a:ext cx="2176272" cy="33832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199" y="2468880"/>
            <a:ext cx="2176272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知识图谱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06640" y="2971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500"/>
                </a:solidFill>
                <a:latin typeface="微软雅黑" panose="020B0503020204020204" charset="-122"/>
              </a:rPr>
              <a:t>核心机制</a:t>
            </a:r>
            <a:endParaRPr sz="11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0664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实体 + 关系图结构
支持多跳推理（A→B→C）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06640" y="4480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500"/>
                </a:solidFill>
                <a:latin typeface="微软雅黑" panose="020B0503020204020204" charset="-122"/>
              </a:rPr>
              <a:t>适合场景</a:t>
            </a:r>
            <a:endParaRPr sz="11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06640" y="4800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复杂关联分析
供应链 · 组织关系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46919" y="2468880"/>
            <a:ext cx="2176272" cy="33832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46919" y="2468880"/>
            <a:ext cx="2176272" cy="384048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59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记忆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738359" y="2971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7AFF"/>
                </a:solidFill>
                <a:latin typeface="微软雅黑" panose="020B0503020204020204" charset="-122"/>
              </a:rPr>
              <a:t>核心机制</a:t>
            </a:r>
            <a:endParaRPr sz="1100" b="1">
              <a:solidFill>
                <a:srgbClr val="C07AFF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738359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跨对话持久化
用户偏好 · 历史行为 · 状态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38359" y="4480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7AFF"/>
                </a:solidFill>
                <a:latin typeface="微软雅黑" panose="020B0503020204020204" charset="-122"/>
              </a:rPr>
              <a:t>适合场景</a:t>
            </a:r>
            <a:endParaRPr sz="1100" b="1">
              <a:solidFill>
                <a:srgbClr val="C07A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38359" y="4800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个性化助手
多轮任务续接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0040" y="6053328"/>
            <a:ext cx="54864" cy="548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053455"/>
            <a:ext cx="11412220" cy="52959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没有"万能"方案。成熟的 Agent 往往同时使用多种手段，按任务类型动态决定"此刻该从哪里取知识"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第四部分 · 12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MCP：AI 时代的"USB 接口标准"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是什么？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Model Context Protocol（模型上下文协议）</a:t>
            </a:r>
            <a:endParaRPr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解决什么问题？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FA500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过去：每个工具都要定制集成（每个设备要专用充电器）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A500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现在：统一标准（像 USB-C，一个接口通吃所有外设）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三种部署模式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本地 MCP Server — 敏感操作（读文件/本地DB）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远程 MCP Server — 共享服务（数据库查询）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托管式 Server — SaaS（如 GitHub 官方 MCP）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  <a:latin typeface="微软雅黑" panose="020B0503020204020204" charset="-122"/>
              </a:rPr>
              <a:t>核心组件</a:t>
            </a:r>
            <a:endParaRPr sz="17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37960" y="2148840"/>
            <a:ext cx="4937760" cy="100584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148840"/>
            <a:ext cx="109728" cy="10058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240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MCP Server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0840" y="2606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能力提供者（实际干活）
具体工具 / 数据源 / API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3337560"/>
            <a:ext cx="4937760" cy="100584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3337560"/>
            <a:ext cx="109728" cy="10058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429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MCP Client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20840" y="3794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统一通信代理
类似 USB 控制器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37960" y="4526280"/>
            <a:ext cx="4937760" cy="100584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526280"/>
            <a:ext cx="109728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617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MCP 市场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0840" y="4983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能力商店
类似 App Store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6035040"/>
            <a:ext cx="54864" cy="5486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035040"/>
            <a:ext cx="10789920" cy="54800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MCP = AI 时代的 USB-C 接口 —— 无论本地硬盘还是云端服务，只要符合协议，Agent 即插即用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第四部分 · 13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Agent 开发框架：站在巨人肩膀上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通用编程框架（适合深度定制）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0352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09728" cy="7772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751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LangChain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生态最广 · 模块化最强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30352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09728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95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AutoGen（微软）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25526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多 Agent 对话原生支持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30352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09728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03903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CrewAI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169663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角色化分工（Agent as Role）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530352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09728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18303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OpenClaw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508406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上下文引擎插件化（2026新星）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09360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  <a:latin typeface="微软雅黑" panose="020B0503020204020204" charset="-122"/>
              </a:rPr>
              <a:t>低代码 / 可视化平台（快速原型）</a:t>
            </a:r>
            <a:endParaRPr sz="17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09360" y="1920240"/>
            <a:ext cx="539496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920240"/>
            <a:ext cx="109728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9751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Dify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2240" y="2340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国产开源 · 企业级功能全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09360" y="2834640"/>
            <a:ext cx="539496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834640"/>
            <a:ext cx="109728" cy="7772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889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Coze（字节）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32552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C端体验极佳 · 多终端发布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309360" y="3749039"/>
            <a:ext cx="5394960" cy="7772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749039"/>
            <a:ext cx="109728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80390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n8n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2240" y="416966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自动化工作流导向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5575935"/>
            <a:ext cx="1106424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A500"/>
                </a:solidFill>
                <a:latin typeface="微软雅黑" panose="020B0503020204020204" charset="-122"/>
              </a:rPr>
              <a:t>选型建议</a:t>
            </a:r>
            <a:endParaRPr sz="17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5920105"/>
            <a:ext cx="3566160" cy="8229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98411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初学者</a:t>
            </a:r>
            <a:endParaRPr sz="14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4360" y="633158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→ 从 Dify / Coze 快速上手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206240" y="5920105"/>
            <a:ext cx="3566160" cy="8229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598411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FF"/>
                </a:solidFill>
                <a:latin typeface="微软雅黑" panose="020B0503020204020204" charset="-122"/>
              </a:rPr>
              <a:t>企业开发者</a:t>
            </a:r>
            <a:endParaRPr sz="14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43400" y="633158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→ LangChain / OpenClaw 深度定制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955279" y="5920105"/>
            <a:ext cx="3566160" cy="8229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598411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科研/复杂协作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92440" y="633158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→ AutoGen / CrewAI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5FF"/>
                </a:solidFill>
                <a:latin typeface="微软雅黑" panose="020B0503020204020204" charset="-122"/>
              </a:rPr>
              <a:t>第五部分</a:t>
            </a:r>
            <a:endParaRPr sz="2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AI 操作系统与工程层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14 · AgentOS 六层模型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15 · Harness 工程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第五部分 · 14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AI 时代的操作系统：六层分层认知框架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0"/>
                </a:solidFill>
                <a:latin typeface="微软雅黑" panose="020B0503020204020204" charset="-122"/>
              </a:rPr>
              <a:t>类比 1980 年代 PC 革命：CPU + OS + App  →  今天：大模型 + AgentOS + 智能体应用</a:t>
            </a:r>
            <a:r>
              <a:rPr lang="zh-CN" sz="1500" b="0">
                <a:solidFill>
                  <a:srgbClr val="CCD6E0"/>
                </a:solidFill>
                <a:latin typeface="微软雅黑" panose="020B0503020204020204" charset="-122"/>
              </a:rPr>
              <a:t>。</a:t>
            </a:r>
            <a:endParaRPr lang="zh-CN" sz="15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640080" cy="67970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2039112"/>
            <a:ext cx="621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L5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51560" y="1965960"/>
            <a:ext cx="10040112" cy="679704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0116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资源调度与执行层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3360" y="20116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≈ 进程/线程调度器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7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分配推理资源 · 控制优先级 · 支持中断恢复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2682240"/>
            <a:ext cx="640080" cy="67970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2755392"/>
            <a:ext cx="621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L4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51560" y="2682240"/>
            <a:ext cx="10040112" cy="679704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7279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状态与知识持久化层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23360" y="2727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≈ 文件系统 + 数据库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272795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保存会话状态 · 用户画像 · 企业知识图谱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3398520"/>
            <a:ext cx="640080" cy="679704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471672"/>
            <a:ext cx="621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51560" y="3398520"/>
            <a:ext cx="10040112" cy="679704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444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多智能体通信层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23360" y="3444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≈ IPC / RPC / D-Bus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34442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A2A 协议 · 标准消息格式 · 分工协作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640080" cy="67970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4187952"/>
            <a:ext cx="621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51560" y="4114800"/>
            <a:ext cx="10040112" cy="679704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工具插件系统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2336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≈ 设备驱动 + HAL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4160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MCP 统一接入 · Agent Skills 技能包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" y="4831080"/>
            <a:ext cx="640080" cy="67970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4904232"/>
            <a:ext cx="621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51560" y="4831080"/>
            <a:ext cx="10040112" cy="679704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876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上下文与记忆管理层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23360" y="4876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≈ 内存管理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0" y="4876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管理上下文窗口 · RAG检索 · 记忆压缩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5760" y="5547360"/>
            <a:ext cx="640080" cy="67970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620512"/>
            <a:ext cx="621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L0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51560" y="5547360"/>
            <a:ext cx="10040112" cy="679704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559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智能算力层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023360" y="559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A0B4"/>
                </a:solidFill>
                <a:latin typeface="微软雅黑" panose="020B0503020204020204" charset="-122"/>
              </a:rPr>
              <a:t>≈ CPU / GPU</a:t>
            </a:r>
            <a:endParaRPr sz="12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0" y="559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LLM 提供基础推理能力（GPT / Claude / DeepSeek）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25"/>
          <p:cNvSpPr/>
          <p:nvPr/>
        </p:nvSpPr>
        <p:spPr>
          <a:xfrm>
            <a:off x="381635" y="6359525"/>
            <a:ext cx="76200" cy="396875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26"/>
          <p:cNvSpPr txBox="1"/>
          <p:nvPr/>
        </p:nvSpPr>
        <p:spPr>
          <a:xfrm>
            <a:off x="518795" y="6359525"/>
            <a:ext cx="10572750" cy="39624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zh-CN" sz="1400" b="0">
                <a:solidFill>
                  <a:srgbClr val="CCD6E0"/>
                </a:solidFill>
                <a:latin typeface="微软雅黑" panose="020B0503020204020204" charset="-122"/>
              </a:rPr>
              <a:t>今天其实还没有真正意义上</a:t>
            </a:r>
            <a:r>
              <a:rPr lang="en-US" altLang="zh-CN" sz="1400" b="0">
                <a:solidFill>
                  <a:srgbClr val="CCD6E0"/>
                </a:solidFill>
                <a:latin typeface="微软雅黑" panose="020B0503020204020204" charset="-122"/>
              </a:rPr>
              <a:t>AgentOS</a:t>
            </a:r>
            <a:r>
              <a:rPr lang="zh-CN" altLang="en-US" sz="1400" b="0">
                <a:solidFill>
                  <a:srgbClr val="CCD6E0"/>
                </a:solidFill>
                <a:latin typeface="微软雅黑" panose="020B0503020204020204" charset="-122"/>
              </a:rPr>
              <a:t>，</a:t>
            </a:r>
            <a:r>
              <a:rPr lang="zh-CN" altLang="en-US" sz="1400" b="0">
                <a:solidFill>
                  <a:srgbClr val="CCD6E0"/>
                </a:solidFill>
                <a:latin typeface="微软雅黑" panose="020B0503020204020204" charset="-122"/>
              </a:rPr>
              <a:t>处于百花齐放的</a:t>
            </a:r>
            <a:r>
              <a:rPr lang="zh-CN" altLang="en-US" sz="1400" b="0">
                <a:solidFill>
                  <a:srgbClr val="CCD6E0"/>
                </a:solidFill>
                <a:latin typeface="微软雅黑" panose="020B0503020204020204" charset="-122"/>
              </a:rPr>
              <a:t>状态，预计未来</a:t>
            </a:r>
            <a:r>
              <a:rPr lang="en-US" altLang="zh-CN" sz="1400" b="0">
                <a:solidFill>
                  <a:srgbClr val="CCD6E0"/>
                </a:solidFill>
                <a:latin typeface="微软雅黑" panose="020B0503020204020204" charset="-122"/>
              </a:rPr>
              <a:t>2-3</a:t>
            </a:r>
            <a:r>
              <a:rPr lang="zh-CN" altLang="en-US" sz="1400" b="0">
                <a:solidFill>
                  <a:srgbClr val="CCD6E0"/>
                </a:solidFill>
                <a:latin typeface="微软雅黑" panose="020B0503020204020204" charset="-122"/>
              </a:rPr>
              <a:t>年可能出现</a:t>
            </a:r>
            <a:r>
              <a:rPr lang="en-US" altLang="zh-CN" sz="1400" b="0">
                <a:solidFill>
                  <a:srgbClr val="CCD6E0"/>
                </a:solidFill>
                <a:latin typeface="微软雅黑" panose="020B0503020204020204" charset="-122"/>
              </a:rPr>
              <a:t>AI</a:t>
            </a:r>
            <a:r>
              <a:rPr lang="zh-CN" altLang="en-US" sz="1400" b="0">
                <a:solidFill>
                  <a:srgbClr val="CCD6E0"/>
                </a:solidFill>
                <a:latin typeface="微软雅黑" panose="020B0503020204020204" charset="-122"/>
              </a:rPr>
              <a:t>时代的</a:t>
            </a:r>
            <a:r>
              <a:rPr lang="en-US" altLang="zh-CN" sz="1400" b="0">
                <a:solidFill>
                  <a:srgbClr val="CCD6E0"/>
                </a:solidFill>
                <a:latin typeface="微软雅黑" panose="020B0503020204020204" charset="-122"/>
              </a:rPr>
              <a:t>“Windows95</a:t>
            </a:r>
            <a:r>
              <a:rPr lang="zh-CN" altLang="en-US" sz="1400" b="0">
                <a:solidFill>
                  <a:srgbClr val="CCD6E0"/>
                </a:solidFill>
                <a:latin typeface="微软雅黑" panose="020B0503020204020204" charset="-122"/>
              </a:rPr>
              <a:t>系统</a:t>
            </a:r>
            <a:r>
              <a:rPr lang="en-US" altLang="zh-CN" sz="1400" b="0">
                <a:solidFill>
                  <a:srgbClr val="CCD6E0"/>
                </a:solidFill>
                <a:latin typeface="微软雅黑" panose="020B0503020204020204" charset="-122"/>
              </a:rPr>
              <a:t>”</a:t>
            </a:r>
            <a:endParaRPr lang="en-US" altLang="zh-CN"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第五部分 · 15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Harness 工程：AI 应用的"全栈治理框架"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" cy="5486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Agent = Model + Harness  ——  模型只负责"思考"，Harness 决定 Agent 是否可靠、可控、可维护、可规模化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5577840" cy="16002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577840" cy="38404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780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全生命周期编排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95351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定义 Agent 从启动、执行、监控
到终止的完整工作流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63640" y="2423160"/>
            <a:ext cx="5577840" cy="16002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423160"/>
            <a:ext cx="5577840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780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权限与合规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95351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统一实施 RBAC 权限控制
操作审计 · 敏感数据脱敏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5577840" cy="16002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5577840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26110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可观测性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473659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日志 · 追踪 · 指标
（Logging / Tracing / Metrics）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63640" y="4206240"/>
            <a:ext cx="5577840" cy="16002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206240"/>
            <a:ext cx="557784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6110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弹性与容错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473659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自动重试失败步骤
降级策略 · 熔断机制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6080760"/>
            <a:ext cx="54864" cy="548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080760"/>
            <a:ext cx="10789920" cy="53657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类比：AgentOS = Linux内核，Harness = systemd + SELinux + Prometheus  ——  确保系统安全、稳定、可观测、可运维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5FF"/>
                </a:solidFill>
                <a:latin typeface="微软雅黑" panose="020B0503020204020204" charset="-122"/>
              </a:rPr>
              <a:t>第六部分</a:t>
            </a:r>
            <a:endParaRPr sz="2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AI 应用实践层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16 · AI 编程最佳实践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17 · 企业 AI 落地指南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第六部分 · 16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AI 编程：与 AI 协同开发的最佳实践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✅ AI 能帮你干的活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生成代码草稿（快速搭架子）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自动编写 API 客户端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编写单元测试和集成测试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代码审查（提前找 Bug）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充当"超级搜索引擎"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自动生成技术文档和注释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39496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❌ AI 搞不定的事（千万别让它干）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FF6B6B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理解业务目标（不知道产品痛点）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6B6B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设计系统架构（只能拼凑已有模式）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6B6B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处理敏感逻辑（支付/权限/加密）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6B6B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修复复杂 Bug（可能治标不治本）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6B6B"/>
                </a:solidFill>
                <a:latin typeface="微软雅黑" panose="020B0503020204020204" charset="-122"/>
              </a:rPr>
              <a:t>▸ </a:t>
            </a:r>
            <a:r>
              <a:rPr sz="1400">
                <a:solidFill>
                  <a:srgbClr val="CCD6E0"/>
                </a:solidFill>
                <a:latin typeface="微软雅黑" panose="020B0503020204020204" charset="-122"/>
              </a:rPr>
              <a:t>替代人工测试（无法模拟真实用户）</a:t>
            </a:r>
            <a:endParaRPr sz="14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4892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A500"/>
                </a:solidFill>
                <a:latin typeface="微软雅黑" panose="020B0503020204020204" charset="-122"/>
              </a:rPr>
              <a:t>成熟团队的三条铁律</a:t>
            </a:r>
            <a:endParaRPr sz="17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1"/>
            </p:custDataLst>
          </p:nvPr>
        </p:nvSpPr>
        <p:spPr>
          <a:xfrm>
            <a:off x="365760" y="5349240"/>
            <a:ext cx="3657600" cy="8229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2"/>
            </p:custDataLst>
          </p:nvPr>
        </p:nvSpPr>
        <p:spPr>
          <a:xfrm>
            <a:off x="365760" y="5349240"/>
            <a:ext cx="109728" cy="8229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3"/>
            </p:custDataLst>
          </p:nvPr>
        </p:nvSpPr>
        <p:spPr>
          <a:xfrm>
            <a:off x="566928" y="5394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FF"/>
                </a:solidFill>
                <a:latin typeface="微软雅黑" panose="020B0503020204020204" charset="-122"/>
              </a:rPr>
              <a:t>铁律1</a:t>
            </a:r>
            <a:endParaRPr sz="13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4"/>
            </p:custDataLst>
          </p:nvPr>
        </p:nvSpPr>
        <p:spPr>
          <a:xfrm>
            <a:off x="566928" y="5715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AI 输出 = 草稿，不是成品（必须人工审核）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5"/>
            </p:custDataLst>
          </p:nvPr>
        </p:nvSpPr>
        <p:spPr>
          <a:xfrm>
            <a:off x="4206240" y="5349240"/>
            <a:ext cx="3657600" cy="8229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6"/>
            </p:custDataLst>
          </p:nvPr>
        </p:nvSpPr>
        <p:spPr>
          <a:xfrm>
            <a:off x="4206240" y="5349240"/>
            <a:ext cx="109728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4407408" y="5394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微软雅黑" panose="020B0503020204020204" charset="-122"/>
              </a:rPr>
              <a:t>铁律2</a:t>
            </a:r>
            <a:endParaRPr sz="1300" b="1">
              <a:solidFill>
                <a:srgbClr val="FF6B6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4407535" y="5715000"/>
            <a:ext cx="312483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高风险模块禁用 AI 自动生成（资金/隐私/核心算法）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9"/>
            </p:custDataLst>
          </p:nvPr>
        </p:nvSpPr>
        <p:spPr>
          <a:xfrm>
            <a:off x="8046720" y="5349240"/>
            <a:ext cx="3657600" cy="8229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0"/>
            </p:custDataLst>
          </p:nvPr>
        </p:nvSpPr>
        <p:spPr>
          <a:xfrm>
            <a:off x="8046720" y="5349240"/>
            <a:ext cx="109728" cy="8229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1"/>
            </p:custDataLst>
          </p:nvPr>
        </p:nvSpPr>
        <p:spPr>
          <a:xfrm>
            <a:off x="8247888" y="5394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  <a:latin typeface="微软雅黑" panose="020B0503020204020204" charset="-122"/>
              </a:rPr>
              <a:t>铁律3</a:t>
            </a:r>
            <a:endParaRPr sz="13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2"/>
            </p:custDataLst>
          </p:nvPr>
        </p:nvSpPr>
        <p:spPr>
          <a:xfrm>
            <a:off x="8247888" y="5715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建立反馈闭环（分享翻车案例 · 优化提示词）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第六部分 · 17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企业 AI 应用落地指南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企业 AI 应用实施路径（三阶段）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566160" cy="32004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566160" cy="5669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0253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阶段 1
试点验证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· 选择小团队 / 非核心业务
· 跑通 AI 工具使用流程
· 收集真实反馈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69080" y="32004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FF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1960" y="1965960"/>
            <a:ext cx="3566160" cy="32004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965960"/>
            <a:ext cx="3566160" cy="5669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0253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阶段 2
标准化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2633472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· 制定团队 AI 使用规范
· 组织内部培训和分享
· 构建团队提示词知识库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0" y="32004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FF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3566160" cy="32004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965960"/>
            <a:ext cx="3566160" cy="56692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00253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阶段 3
规模化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83880" y="2633472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微软雅黑" panose="020B0503020204020204" charset="-122"/>
              </a:rPr>
              <a:t>· 全公司推广
· 建立 AI 治理体系
· 持续优化 ROI 衡量体系</a:t>
            </a:r>
            <a:endParaRPr sz="14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5349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工具选型考量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5742305"/>
            <a:ext cx="5499735" cy="542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300">
                <a:solidFill>
                  <a:srgbClr val="CCD6E0"/>
                </a:solidFill>
                <a:latin typeface="微软雅黑" panose="020B0503020204020204" charset="-122"/>
              </a:rPr>
              <a:t>团队技术栈 · 安全合规要求 · 成本预算</a:t>
            </a:r>
            <a:endParaRPr sz="13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300">
                <a:solidFill>
                  <a:srgbClr val="CCD6E0"/>
                </a:solidFill>
                <a:latin typeface="微软雅黑" panose="020B0503020204020204" charset="-122"/>
              </a:rPr>
              <a:t>代表工具：GitHub Copilot / Cursor / </a:t>
            </a:r>
            <a:r>
              <a:rPr lang="en-US" sz="1300">
                <a:solidFill>
                  <a:srgbClr val="CCD6E0"/>
                </a:solidFill>
                <a:latin typeface="微软雅黑" panose="020B0503020204020204" charset="-122"/>
              </a:rPr>
              <a:t>Qoder / Trae / Code</a:t>
            </a:r>
            <a:r>
              <a:rPr lang="en-US" sz="1300">
                <a:solidFill>
                  <a:srgbClr val="CCD6E0"/>
                </a:solidFill>
                <a:latin typeface="微软雅黑" panose="020B0503020204020204" charset="-122"/>
              </a:rPr>
              <a:t>Buddy</a:t>
            </a:r>
            <a:endParaRPr lang="en-US" sz="13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09360" y="5349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团队 AI 能力协调</a:t>
            </a:r>
            <a:endParaRPr sz="15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09360" y="5742432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300">
                <a:solidFill>
                  <a:srgbClr val="CCD6E0"/>
                </a:solidFill>
                <a:latin typeface="微软雅黑" panose="020B0503020204020204" charset="-122"/>
              </a:rPr>
              <a:t>建立团队 AI 使用规范与红线</a:t>
            </a:r>
            <a:endParaRPr sz="13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300">
                <a:solidFill>
                  <a:srgbClr val="CCD6E0"/>
                </a:solidFill>
                <a:latin typeface="微软雅黑" panose="020B0503020204020204" charset="-122"/>
              </a:rPr>
              <a:t>高手带新手 · 好提示词模板共享</a:t>
            </a:r>
            <a:endParaRPr sz="13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5FF"/>
                </a:solidFill>
                <a:latin typeface="微软雅黑" panose="020B0503020204020204" charset="-122"/>
              </a:rPr>
              <a:t>第七部分</a:t>
            </a:r>
            <a:endParaRPr sz="2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未来展望与总结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18 · AI 技术发展趋势（2026-2030）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6E0"/>
                </a:solidFill>
                <a:latin typeface="微软雅黑" panose="020B0503020204020204" charset="-122"/>
              </a:rPr>
              <a:t>· 19 · 核心认知框架与行动建议</a:t>
            </a:r>
            <a:endParaRPr sz="17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第七部分 · 18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AI 技术发展趋势（2026-2030）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38404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技术趋势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上下文工程取代 Prompt Engineering 成为核心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MCP 成为工具标准化事实标准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A2A 构建大规模异构智能体生态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Harness Engineering 成为 AI 标准工程实践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出现事实标准的 AgentOS（类似 Windows 95时刻）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394960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产业趋势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新岗位："上下文工程师"需求激增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AI 应用开发回归本质 —— 解决用户问题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从"模型竞赛"转向"应用落地"与工程化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0E676"/>
                </a:solidFill>
                <a:latin typeface="微软雅黑" panose="020B0503020204020204" charset="-122"/>
              </a:rPr>
              <a:t>▸ </a:t>
            </a:r>
            <a:r>
              <a:rPr sz="1500">
                <a:solidFill>
                  <a:srgbClr val="CCD6E0"/>
                </a:solidFill>
                <a:latin typeface="微软雅黑" panose="020B0503020204020204" charset="-122"/>
              </a:rPr>
              <a:t>垂直行业 AI 应用爆发（医疗/法律/制造）</a:t>
            </a:r>
            <a:endParaRPr sz="150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500"/>
                </a:solidFill>
                <a:latin typeface="微软雅黑" panose="020B0503020204020204" charset="-122"/>
              </a:rPr>
              <a:t>关键时间节点预测</a:t>
            </a:r>
            <a:endParaRPr sz="1600" b="1">
              <a:solidFill>
                <a:srgbClr val="FFA50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651760" cy="9144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349240"/>
            <a:ext cx="2651760" cy="3200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367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2026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57424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MCP/A2A 生态成型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91840" y="5349240"/>
            <a:ext cx="2651760" cy="9144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5349240"/>
            <a:ext cx="26517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367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2027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83280" y="57424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AgentOS 事实标准出现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26480" y="5349240"/>
            <a:ext cx="2651760" cy="9144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5349240"/>
            <a:ext cx="2651760" cy="3200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367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2028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0" y="57424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企业级 Agent 大规模落地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961120" y="5349240"/>
            <a:ext cx="2651760" cy="9144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5349240"/>
            <a:ext cx="265176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367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2030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52560" y="57424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AI 原生应用成为主流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755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第七部分 · 19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核心认知框架与行动建议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微软雅黑" panose="020B0503020204020204" charset="-122"/>
              </a:rPr>
              <a:t>5 大关键认知</a:t>
            </a:r>
            <a:endParaRPr sz="17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9496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7510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FF"/>
                </a:solidFill>
                <a:latin typeface="微软雅黑" panose="020B0503020204020204" charset="-122"/>
              </a:rPr>
              <a:t>1</a:t>
            </a:r>
            <a:endParaRPr sz="22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AI 不是魔法，而是一套正在成型的新软件栈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39496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4378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FF"/>
                </a:solidFill>
                <a:latin typeface="微软雅黑" panose="020B0503020204020204" charset="-122"/>
              </a:rPr>
              <a:t>2</a:t>
            </a:r>
            <a:endParaRPr sz="22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7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大模型 ≠ 应用，真正的应用是跑在它之上的 Agent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39496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FF"/>
                </a:solidFill>
                <a:latin typeface="微软雅黑" panose="020B0503020204020204" charset="-122"/>
              </a:rPr>
              <a:t>3</a:t>
            </a:r>
            <a:endParaRPr sz="22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3794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90% 的挑战不在模型微调，而在上下文工程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4526279"/>
            <a:ext cx="539496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3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FF"/>
                </a:solidFill>
                <a:latin typeface="微软雅黑" panose="020B0503020204020204" charset="-122"/>
              </a:rPr>
              <a:t>4</a:t>
            </a:r>
            <a:endParaRPr sz="22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4663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80% 的体验差异来自 Agent 实现质量，非 LLM 版本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5394960"/>
            <a:ext cx="539496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4498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FF"/>
                </a:solidFill>
                <a:latin typeface="微软雅黑" panose="020B0503020204020204" charset="-122"/>
              </a:rPr>
              <a:t>5</a:t>
            </a:r>
            <a:endParaRPr sz="22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" y="55321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竞争力不在于"用了哪个模型"，在于如何高效使用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  <a:latin typeface="微软雅黑" panose="020B0503020204020204" charset="-122"/>
              </a:rPr>
              <a:t>5 大行动建议</a:t>
            </a:r>
            <a:endParaRPr sz="1700" b="1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0" y="192024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109728" cy="7498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9751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用 OS 思维理解 AI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0" y="232257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LLM = CPU，Agent = 进程，工具 = 驱动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278892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788920"/>
            <a:ext cx="109728" cy="7498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84378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不要过早绑定框架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319125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优先使用 MCP / A2A 等开放协议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00800" y="365760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109728" cy="7498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712463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积累 Agent Skills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83680" y="40599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将领域知识封装成可复用技能包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800" y="4526279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526279"/>
            <a:ext cx="109728" cy="7498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581143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拥抱 Harness 工程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80" y="49286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为 Agent 构建安全可观测的运行时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0" y="5394960"/>
            <a:ext cx="5303520" cy="749808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5394960"/>
            <a:ext cx="109728" cy="7498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4498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关注分层演进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83680" y="57972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未来赢家提供完整运行时，而非仅是库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5FF"/>
                </a:solidFill>
                <a:latin typeface="微软雅黑" panose="020B0503020204020204" charset="-122"/>
              </a:rPr>
              <a:t>附录 B</a:t>
            </a:r>
            <a:endParaRPr sz="2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关键术语表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93268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326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附录 B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关键术语表（上）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600200" cy="347472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2704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FF"/>
                </a:solidFill>
                <a:latin typeface="微软雅黑" panose="020B0503020204020204" charset="-122"/>
              </a:rPr>
              <a:t>术语</a:t>
            </a:r>
            <a:endParaRPr sz="13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11680" y="1508760"/>
            <a:ext cx="2926080" cy="347472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270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FF"/>
                </a:solidFill>
                <a:latin typeface="微软雅黑" panose="020B0503020204020204" charset="-122"/>
              </a:rPr>
              <a:t>英文全称</a:t>
            </a:r>
            <a:endParaRPr sz="13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6766560" cy="347472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52704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FF"/>
                </a:solidFill>
                <a:latin typeface="微软雅黑" panose="020B0503020204020204" charset="-122"/>
              </a:rPr>
              <a:t>一句话解释</a:t>
            </a:r>
            <a:endParaRPr sz="13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7510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神经网络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57400" y="19751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Neural Network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74920" y="197510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受生物大脑启发的计算模型，所有深度学习的共同根基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368296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Transformer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740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Transformer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74920" y="24231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Google 2017年提出的神经网络架构，几乎所有大模型都基于此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2816352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7121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LLM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57400" y="28712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Large Language Model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287121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基于 Transformer 训练的超大规模语言模型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760" y="3264408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31927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Token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57400" y="33192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Token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74920" y="331927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大模型处理文本的最小单元，介于字与词之间；API计费的计量单位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60" y="3712464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76732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上下文窗口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57400" y="37673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Context Window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74920" y="376732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模型单次对话能处理的最大信息量，相当于大脑"工作记忆"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5760" y="4160520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2153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提示词工程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57400" y="42153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Prompt Engineering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74920" y="421538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系统性设计 AI 输入指令的方法论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5760" y="4608576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63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上下文管理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57400" y="4663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Context Management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74920" y="466344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动态向 LLM 注入所需知识的一套方法体系（RAG/Skill/Wiki 等）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5760" y="5056631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111495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RAG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057400" y="5111495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Retrieval-Augmented Generation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74920" y="5111495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基于向量数据库的上下文管理手段；让 LLM 从"凭记忆"变为"开卷"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65760" y="5504688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559551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Agent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57400" y="555955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AI Agent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74920" y="555955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LLM + 工具调用 + 记忆 + 规划能力的完整执行体；不只能说，还能做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65760" y="5952744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007607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MCP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057400" y="600760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Model Context Protocol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74920" y="6007607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AI 时代的 USB-C 接口标准，让 Agent 即插即用地接入外部能力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93268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326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附录 B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关键术语表（下）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600200" cy="347472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2704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FF"/>
                </a:solidFill>
                <a:latin typeface="微软雅黑" panose="020B0503020204020204" charset="-122"/>
              </a:rPr>
              <a:t>术语</a:t>
            </a:r>
            <a:endParaRPr sz="13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11680" y="1508760"/>
            <a:ext cx="2926080" cy="347472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270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FF"/>
                </a:solidFill>
                <a:latin typeface="微软雅黑" panose="020B0503020204020204" charset="-122"/>
              </a:rPr>
              <a:t>英文全称</a:t>
            </a:r>
            <a:endParaRPr sz="13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6766560" cy="347472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52704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FF"/>
                </a:solidFill>
                <a:latin typeface="微软雅黑" panose="020B0503020204020204" charset="-122"/>
              </a:rPr>
              <a:t>一句话解释</a:t>
            </a:r>
            <a:endParaRPr sz="1300" b="1">
              <a:solidFill>
                <a:srgbClr val="00A8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7510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A2A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57400" y="19751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Agent-to-Agent Protocol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74920" y="197510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多智能体通信协议，相当于 AI 世界的 TCP/IP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368296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Skill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740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Agent Skill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74920" y="24231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领域知识与工作流封装成的可复用模块，类比专业插件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2816352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7121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AgentOS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57400" y="28712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Agent Operating System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287121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AI 时代操作系统；以 LLM 为 CPU 的六层运行时框架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760" y="3264408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31927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Harness 工程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57400" y="33192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Harness Engineering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74920" y="331927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AI 全栈治理框架；Agent = Model + Harness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60" y="3712464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76732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幻觉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57400" y="37673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Hallucination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74920" y="376732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大模型编造事实、输出看似合理但实际错误的现象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5760" y="4160520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2153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向量数据库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57400" y="42153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Vector Database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74920" y="421538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存储语义向量、支持相似度检索，是 RAG 的核心存储层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5760" y="4608576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63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微调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57400" y="4663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Fine-tuning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74920" y="466344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在预训练模型基础上用特定数据继续训练，使其适应特定任务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5760" y="5056631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111495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MoE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057400" y="5111495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Mixture of Experts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74920" y="5111495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按需激活部分专家子网络，知识容量大但推理成本低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65760" y="5504688"/>
            <a:ext cx="11521440" cy="4114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559551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上下文工程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57400" y="555955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Context Engineering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74920" y="555955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提示词工程的进化版；系统性管理整个对话流中的信息与状态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65760" y="5952744"/>
            <a:ext cx="11521440" cy="41148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007607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多模态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057400" y="600760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  <a:latin typeface="微软雅黑" panose="020B0503020204020204" charset="-122"/>
              </a:rPr>
              <a:t>Multimodal</a:t>
            </a:r>
            <a:endParaRPr sz="13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74920" y="6007607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微软雅黑" panose="020B0503020204020204" charset="-122"/>
              </a:rPr>
              <a:t>模型能同时处理文字、图像、音频、视频等多种形式</a:t>
            </a:r>
            <a:endParaRPr sz="13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E676"/>
                </a:solidFill>
                <a:latin typeface="微软雅黑" panose="020B0503020204020204" charset="-122"/>
              </a:rPr>
              <a:t>附录 C</a:t>
            </a:r>
            <a:endParaRPr sz="2200" b="0">
              <a:solidFill>
                <a:srgbClr val="00E676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推荐学习路径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09728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932688" cy="2926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326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附录 C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推荐学习路径（面向非研发背景人员）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749039" cy="50292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749039" cy="5029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36192"/>
            <a:ext cx="35661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第一阶段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</a:rPr>
              <a:t>  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1-2 周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768" y="208483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建立认知地图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4688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  <a:latin typeface="微软雅黑" panose="020B0503020204020204" charset="-122"/>
              </a:rPr>
              <a:t>目标：理解 AI 核心概念，能用正确术语参与讨论</a:t>
            </a:r>
            <a:endParaRPr sz="1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768" y="3017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阅读本大纲全部 7 个部分，重点关注"关键认知"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768" y="3675887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体验主流 AI 产品：ChatGPT / Claude / 豆包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" y="4334256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感受"幻觉"和上下文窗口的实际影响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9768" y="4992624"/>
            <a:ext cx="35204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✓ 能区分大模型和 Agent  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✓ 能解释 RAG 解决什么问题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1508760"/>
            <a:ext cx="3749039" cy="50292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508760"/>
            <a:ext cx="3749039" cy="502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536192"/>
            <a:ext cx="35661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第二阶段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</a:rPr>
              <a:t> 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2-4 周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61688" y="208483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动手实践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61688" y="24688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  <a:latin typeface="微软雅黑" panose="020B0503020204020204" charset="-122"/>
              </a:rPr>
              <a:t>目标：能独立使用 AI 工具完成实际工作任务</a:t>
            </a:r>
            <a:endParaRPr sz="1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61688" y="3017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用结构化提示词写工作文档 / 分析报告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61688" y="3675887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用 Coze 或 Dify 搭建简单知识问答 Bot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61688" y="4334256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上传自己的资料，体验 RAG "开卷考试"效果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61688" y="4992624"/>
            <a:ext cx="35204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✓ 能写稳定输出的提示词  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✓ 能识别幻觉风险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83879" y="1508760"/>
            <a:ext cx="3749039" cy="50292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508760"/>
            <a:ext cx="3749039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7" y="1536192"/>
            <a:ext cx="35661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第三阶段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</a:rPr>
              <a:t>  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持续进行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93607" y="208483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场景落地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93607" y="24688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  <a:latin typeface="微软雅黑" panose="020B0503020204020204" charset="-122"/>
              </a:rPr>
              <a:t>目标：参与企业 AI 决策，推动 AI 应用落地</a:t>
            </a:r>
            <a:endParaRPr sz="1200" b="0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93607" y="3017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参与团队 AI 工具选型（参考本大纲第三部分）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93607" y="3675887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制定部门 AI 使用规范（参考第六部分）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93607" y="4334256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· 关注 AgentOS / Harness 工程标志性产品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93607" y="4992624"/>
            <a:ext cx="35204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✓ AI 安全合规  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CCD6E0"/>
                </a:solidFill>
                <a:latin typeface="微软雅黑" panose="020B0503020204020204" charset="-122"/>
              </a:rPr>
              <a:t>✓ 行业垂直 AI 应用趋势</a:t>
            </a:r>
            <a:endParaRPr sz="12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微软雅黑" panose="020B0503020204020204" charset="-122"/>
              </a:rPr>
              <a:t>Thank You</a:t>
            </a:r>
            <a:endParaRPr sz="5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E0"/>
                </a:solidFill>
                <a:latin typeface="微软雅黑" panose="020B0503020204020204" charset="-122"/>
              </a:rPr>
              <a:t>AI 技术全景科普  ·  从底层理论到应用实践</a:t>
            </a:r>
            <a:endParaRPr sz="20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A0B4"/>
                </a:solidFill>
                <a:latin typeface="微软雅黑" panose="020B0503020204020204" charset="-122"/>
              </a:rPr>
              <a:t>本 PPT 共覆盖：</a:t>
            </a:r>
            <a:endParaRPr sz="15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E5FF"/>
                </a:solidFill>
                <a:latin typeface="微软雅黑" panose="020B0503020204020204" charset="-122"/>
              </a:rPr>
              <a:t>7</a:t>
            </a:r>
            <a:endParaRPr sz="4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大分层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0" y="4297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E5FF"/>
                </a:solidFill>
                <a:latin typeface="微软雅黑" panose="020B0503020204020204" charset="-122"/>
              </a:rPr>
              <a:t>19</a:t>
            </a:r>
            <a:endParaRPr sz="4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章内容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66560" y="4297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E5FF"/>
                </a:solidFill>
                <a:latin typeface="微软雅黑" panose="020B0503020204020204" charset="-122"/>
              </a:rPr>
              <a:t>30</a:t>
            </a:r>
            <a:endParaRPr sz="4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微软雅黑" panose="020B0503020204020204" charset="-122"/>
              </a:rPr>
              <a:t>关键术语</a:t>
            </a:r>
            <a:endParaRPr sz="1600" b="0">
              <a:solidFill>
                <a:srgbClr val="CCD6E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4"/>
                </a:solidFill>
                <a:latin typeface="微软雅黑" panose="020B0503020204020204" charset="-122"/>
              </a:rPr>
              <a:t>2026年5月  ·  认知对齐版  ·  基于24篇技术文档整理</a:t>
            </a:r>
            <a:endParaRPr sz="1300" b="0">
              <a:solidFill>
                <a:srgbClr val="88A0B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2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3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4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5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6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7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8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9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10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11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ags/tag12.xml><?xml version="1.0" encoding="utf-8"?>
<p:tagLst xmlns:p="http://schemas.openxmlformats.org/presentationml/2006/main">
  <p:tag name="KSO_WM_DIAGRAM_VIRTUALLY_FRAME" val="{&quot;height&quot;:65.05,&quot;left&quot;:28.8,&quot;top&quot;:421.2,&quot;width&quot;:892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8250</Words>
  <Application>WPS 演示</Application>
  <PresentationFormat>On-screen Show (4:3)</PresentationFormat>
  <Paragraphs>1135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崔津铭</cp:lastModifiedBy>
  <cp:revision>7</cp:revision>
  <dcterms:created xsi:type="dcterms:W3CDTF">2013-01-27T09:14:00Z</dcterms:created>
  <dcterms:modified xsi:type="dcterms:W3CDTF">2026-05-11T02:12:50Z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2C37ED621A56450792BDBC4856CEA0CE_12</vt:lpwstr>
  </property>
</Properties>
</file>