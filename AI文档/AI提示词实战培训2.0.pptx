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用好 AI，从提示词开始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员工 AI 提示词实战培训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11480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课程目录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为什么要学提示词？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建立信心 · 认知铺垫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你现在是怎么用 AI 的？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认知诊断 · 找到问题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提示词的核心结构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角色+任务+约束 · 七种提问方式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六大核心技法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CoT · ReAct · ToT · Few-Shot 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508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你的岗位怎么用？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分角色实战模板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0604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 AI 要知道的边界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幻觉 · 隐私 · 安全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840480"/>
            <a:ext cx="5029200" cy="10058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977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「提示词重要……也不重要」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收尾 · 衔接未来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为什么要学提示词？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建立信心 · 认知铺垫 · 明确收益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一个真实的反差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731520" y="155448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❌  同事 A 的提问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「帮我写一个用户登录的功能」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09728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 AI 输出泛泛而谈，无法直接使用</a:t>
            </a:r>
          </a:p>
        </p:txBody>
      </p:sp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6400800" y="155448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676656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✅  同事 B 的提问</a:t>
            </a:r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6766560" y="2194560"/>
            <a:ext cx="43891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「你是资深 Java 架构师。请为 Spring Boot 项目写一个 JWT 登录接口，包含：1) Controller 层代码 2) 单元测试 3) 异常处理说明</a:t>
            </a:r>
            <a:r>
              <a:rPr lang="en-US"/>
              <a:t> 4</a:t>
            </a:r>
            <a:r>
              <a:rPr>
                <a:sym typeface="+mn-ea"/>
              </a:rPr>
              <a:t>) </a:t>
            </a:r>
            <a:r>
              <a:rPr lang="zh-CN" altLang="en-US"/>
              <a:t>接口文档</a:t>
            </a:r>
            <a:r>
              <a:t>。</a:t>
            </a:r>
            <a:r>
              <a:rPr lang="zh-CN"/>
              <a:t>文档</a:t>
            </a:r>
            <a:r>
              <a:t>输出格式：Markdown」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676656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→ 直接可用，一次到位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核心结论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不是 AI 不够好，是你没说清楚。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先建立信心：相信 AI 的能力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只有不会指挥 AI 的人，没有 AI 不能回答的问题。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写代码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Java / Python / Go</a:t>
            </a:r>
            <a:br/>
            <a:r>
              <a:t>自动生成+单测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数据分析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03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SQL 生成 / 异动分析</a:t>
            </a:r>
            <a:br/>
            <a:r>
              <a:t>可视化方案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方案撰写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03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需求文档 / 竞品分析</a:t>
            </a:r>
            <a:br/>
            <a:r>
              <a:t>活动策划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10698480" cy="1280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⚠  但——相信归相信，人才是最后负责的主体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AI 的输出，最终要由人来审查、判断、签字、承担责任。AI 是助手，不是决策者。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03-04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提示词的本质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一句话定义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你和 AI 之间的「合同」，是底层交互逻辑。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类比：请了一个超级聪明但零实战经验的博士生私人助理。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重要 …… 也不重要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重要：它是模型理解「该做什么」的唯一依据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不重要：它正逐渐隐身于系统背后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· 结论：你可以不写提示词，但不能不懂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本次培训能带走什么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80"/>
            <a:ext cx="21031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3种立刻能用的提问结构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角色+任务+约束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480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983480"/>
            <a:ext cx="21031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6个垂直领域模板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随用随取，直接复制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80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983480"/>
            <a:ext cx="21031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1套判断AI回答的眼光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知道什么是好输出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79" y="448056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599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4983480"/>
            <a:ext cx="21031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1个正确的AI协作</a:t>
            </a:r>
            <a:r>
              <a:rPr lang="zh-CN"/>
              <a:t>思维</a:t>
            </a:r>
            <a:endParaRPr lang="zh-CN"/>
          </a:p>
        </p:txBody>
      </p:sp>
      <p:sp>
        <p:nvSpPr>
          <p:cNvPr id="27" name="TextBox 26"/>
          <p:cNvSpPr txBox="1"/>
          <p:nvPr/>
        </p:nvSpPr>
        <p:spPr>
          <a:xfrm>
            <a:off x="9372599" y="5349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导师心态，不是求助者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5920" y="3657600"/>
            <a:ext cx="458406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你现在是怎么用 AI 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认知诊断 · 找到问题 · 现场测试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2.1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三种典型的「低效用法」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太短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「帮我写个方案」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 AI 乱猜你的意图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太模糊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「写得好一点」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 AI 不知道「好」的标准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太直接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「直接给我结果」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 跳过思考，输出不稳定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你该怎么定位自己和 AI 的关系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AI = 博士生私人助理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超级聪明，但需要你给出：</a:t>
            </a:r>
            <a:br/>
            <a:r>
              <a:t>清晰的方向 · 完整的背景 · 明确的验收标准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常见误区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860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把 AI 当搜索引擎用（输入关键词，期待好答案）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把 AI 当算命师用（问「会不会涨」，期待预测未来）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把 AI 当「全自动代劳机」（甩手不管，直接复制输出）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正确定位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9144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你是导师，不是求助者。你负责给方向</a:t>
            </a:r>
            <a:r>
              <a:rPr lang="zh-CN"/>
              <a:t>、给目标</a:t>
            </a:r>
            <a:r>
              <a:t>、提供背景、验收结果。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提示词的核心结构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8145" y="2926080"/>
            <a:ext cx="634428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角色 + 任务 + 约束 = 基础三件套  </a:t>
            </a:r>
            <a:r>
              <a:rPr lang="en-US"/>
              <a:t>*</a:t>
            </a:r>
            <a:r>
              <a:t>  七种提问方式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角色  +  任务  +  约束  =  基础三件套</a:t>
            </a:r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7315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👤</a:t>
            </a: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0972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角色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9728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激活不同的知识模式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916940" y="3657600"/>
            <a:ext cx="2921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你是谁，AI 就切换成对应的「专家人格」</a:t>
            </a: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43891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47548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任务</a:t>
            </a: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475488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明确交代要做什么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4754880" y="3657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越具体，输出越精准</a:t>
            </a: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046720" y="164592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🚦</a:t>
            </a: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8412480" y="2560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约束</a:t>
            </a: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841248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划定输出边界</a:t>
            </a: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8412480" y="36576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无约束 = 无边界 = 废话输出</a:t>
            </a:r>
          </a:p>
        </p:txBody>
      </p:sp>
      <p:sp>
        <p:nvSpPr>
          <p:cNvPr id="19" name="Rounded Rectangle 9"/>
          <p:cNvSpPr/>
          <p:nvPr/>
        </p:nvSpPr>
        <p:spPr>
          <a:xfrm>
            <a:off x="731520" y="539369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1"/>
          <p:cNvSpPr txBox="1"/>
          <p:nvPr/>
        </p:nvSpPr>
        <p:spPr>
          <a:xfrm>
            <a:off x="1016000" y="5566410"/>
            <a:ext cx="989203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rPr lang="zh-CN" altLang="en-US">
                <a:solidFill>
                  <a:srgbClr val="00B050"/>
                </a:solidFill>
              </a:rPr>
              <a:t>你是一位资深</a:t>
            </a:r>
            <a:r>
              <a:rPr lang="en-US" altLang="zh-CN">
                <a:solidFill>
                  <a:srgbClr val="00B050"/>
                </a:solidFill>
              </a:rPr>
              <a:t>Java</a:t>
            </a:r>
            <a:r>
              <a:rPr lang="zh-CN" altLang="en-US">
                <a:solidFill>
                  <a:srgbClr val="00B050"/>
                </a:solidFill>
              </a:rPr>
              <a:t>架构师</a:t>
            </a:r>
            <a:r>
              <a:rPr lang="zh-CN" altLang="en-US"/>
              <a:t>，</a:t>
            </a:r>
            <a:r>
              <a:rPr lang="zh-CN" altLang="en-US">
                <a:solidFill>
                  <a:srgbClr val="00B0F0"/>
                </a:solidFill>
              </a:rPr>
              <a:t>我需要你基于当前项目的消息推送服务的现状生成一份重构计划，计划需要考虑兼容现在的</a:t>
            </a:r>
            <a:r>
              <a:rPr lang="en-US" altLang="zh-CN">
                <a:solidFill>
                  <a:srgbClr val="00B0F0"/>
                </a:solidFill>
              </a:rPr>
              <a:t>API</a:t>
            </a:r>
            <a:r>
              <a:rPr lang="zh-CN" altLang="en-US">
                <a:solidFill>
                  <a:srgbClr val="00B0F0"/>
                </a:solidFill>
              </a:rPr>
              <a:t>接口，但放弃现在不合理的内部实现</a:t>
            </a:r>
            <a:r>
              <a:rPr lang="zh-CN" altLang="en-US"/>
              <a:t>，</a:t>
            </a:r>
            <a:r>
              <a:rPr lang="zh-CN" altLang="en-US">
                <a:solidFill>
                  <a:srgbClr val="C00000"/>
                </a:solidFill>
              </a:rPr>
              <a:t>只生成计划，在我确认前不要生成代码，也不要修改任何其它文件，如果必须要修改，你应该咨询我，在取得同意后才能进行修改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七种提问方式（附生活类比）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新人先记前 3 个，其余遇到对应场景再查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474720"/>
                <a:gridCol w="274320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方式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生活类比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微软雅黑" panose="020B0503020204020204" charset="-122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开放式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像和朋友聊「最近有什么好玩的」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基于企业微信实现一个地推扫码拉新分佣的功能</a:t>
                      </a:r>
                      <a:r>
                        <a:rPr lang="zh-CN">
                          <a:solidFill>
                            <a:srgbClr val="FF0000"/>
                          </a:solidFill>
                        </a:rPr>
                        <a:t>可行吗</a:t>
                      </a:r>
                      <a:r>
                        <a:t>？</a:t>
                      </a:r>
                      <a:r>
                        <a:rPr lang="zh-CN">
                          <a:solidFill>
                            <a:srgbClr val="FF0000"/>
                          </a:solidFill>
                        </a:rPr>
                        <a:t>有哪些潜在的问题或风险</a:t>
                      </a:r>
                      <a:r>
                        <a:rPr lang="zh-CN"/>
                        <a:t>？</a:t>
                      </a:r>
                      <a:endParaRPr lang="zh-CN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头脑风暴、初步调研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封闭式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像做选择题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指掌天下的</a:t>
                      </a:r>
                      <a:r>
                        <a:rPr lang="en-US" altLang="zh-CN"/>
                        <a:t>ERP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是否支持</a:t>
                      </a:r>
                      <a:r>
                        <a:rPr lang="zh-CN"/>
                        <a:t>在线视频会议</a:t>
                      </a:r>
                      <a:r>
                        <a:t>功能？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事实核查、快速决策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苏格拉底式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像好导师不直接给答案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这个结论的前提假设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是什么</a:t>
                      </a:r>
                      <a:r>
                        <a:t>？</a:t>
                      </a:r>
                    </a:p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你</a:t>
                      </a:r>
                      <a:r>
                        <a:rPr lang="zh-CN">
                          <a:solidFill>
                            <a:srgbClr val="FF0000"/>
                          </a:solidFill>
                        </a:rPr>
                        <a:t>为什么</a:t>
                      </a:r>
                      <a:r>
                        <a:rPr lang="zh-CN"/>
                        <a:t>得出这样的</a:t>
                      </a:r>
                      <a:r>
                        <a:rPr lang="zh-CN"/>
                        <a:t>结论？</a:t>
                      </a:r>
                      <a:endParaRPr lang="zh-CN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方案评审、深度分析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假设性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像玩「如果…会怎样」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如果流量增10倍</a:t>
                      </a:r>
                      <a:r>
                        <a:t>会怎样？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风险评估、应急预案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引导式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像给画家指定画风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作为</a:t>
                      </a:r>
                      <a:r>
                        <a:rPr lang="en-US">
                          <a:solidFill>
                            <a:srgbClr val="FF0000"/>
                          </a:solidFill>
                        </a:rPr>
                        <a:t>Java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专家</a:t>
                      </a:r>
                      <a:r>
                        <a:t>请评价</a:t>
                      </a:r>
                      <a:r>
                        <a:rPr lang="zh-CN"/>
                        <a:t>这份设计文档</a:t>
                      </a:r>
                      <a:r>
                        <a:rPr lang="zh-CN">
                          <a:solidFill>
                            <a:srgbClr val="FF0000"/>
                          </a:solidFill>
                        </a:rPr>
                        <a:t>是否闭环</a:t>
                      </a:r>
                      <a:r>
                        <a:rPr lang="zh-CN"/>
                        <a:t>，</a:t>
                      </a:r>
                      <a:r>
                        <a:rPr lang="zh-CN">
                          <a:solidFill>
                            <a:srgbClr val="FF0000"/>
                          </a:solidFill>
                        </a:rPr>
                        <a:t>有哪些潜在的风险？</a:t>
                      </a:r>
                      <a:endParaRPr 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专业咨询、角色代入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反思式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像项目复盘会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这是我们的聊天记录，帮我做一份讨论</a:t>
                      </a:r>
                      <a:r>
                        <a:rPr lang="zh-CN">
                          <a:solidFill>
                            <a:srgbClr val="FF0000"/>
                          </a:solidFill>
                        </a:rPr>
                        <a:t>总结</a:t>
                      </a:r>
                      <a:endParaRPr 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263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学习复盘、项目总结</a:t>
                      </a:r>
                    </a:p>
                  </a:txBody>
                  <a:tcPr>
                    <a:solidFill>
                      <a:srgbClr val="26334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情感化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像对同事说「这个很重要！」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这个方案关系融资，</a:t>
                      </a:r>
                      <a:r>
                        <a:rPr>
                          <a:solidFill>
                            <a:srgbClr val="FF0000"/>
                          </a:solidFill>
                        </a:rPr>
                        <a:t>请认真</a:t>
                      </a:r>
                      <a:r>
                        <a:rPr lang="zh-CN"/>
                        <a:t>，所有数据</a:t>
                      </a:r>
                      <a:r>
                        <a:rPr lang="zh-CN">
                          <a:solidFill>
                            <a:srgbClr val="FF0000"/>
                          </a:solidFill>
                        </a:rPr>
                        <a:t>必须可查</a:t>
                      </a:r>
                      <a:r>
                        <a:rPr lang="zh-CN"/>
                        <a:t>！</a:t>
                      </a:r>
                      <a:endParaRPr lang="zh-CN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微软雅黑" panose="020B0503020204020204" charset="-122"/>
                        </a:defRPr>
                      </a:pPr>
                      <a:r>
                        <a:t>高压力任务、创意生成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六大核心技法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0495" y="2926080"/>
            <a:ext cx="663575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遇到不同问题 → 用对应技法  ·  不只是记住名称，要会用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CoT 思维链</a:t>
            </a:r>
            <a:r>
              <a:rPr lang="zh-CN"/>
              <a:t>（</a:t>
            </a:r>
            <a:r>
              <a:rPr lang="en-US" altLang="zh-CN"/>
              <a:t>Chain-of-Thought</a:t>
            </a:r>
            <a:r>
              <a:rPr lang="zh-CN"/>
              <a:t>）</a:t>
            </a:r>
            <a:endParaRPr lang="zh-CN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遇到推理题/代码分析时用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339965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9602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原理</a:t>
            </a:r>
            <a:r>
              <a:rPr lang="zh-CN"/>
              <a:t>：</a:t>
            </a:r>
            <a:r>
              <a:rPr>
                <a:sym typeface="+mn-ea"/>
              </a:rPr>
              <a:t>让 AI 先思考再回答，逐步展开，避免跳步出错</a:t>
            </a: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1097280" y="2539365"/>
            <a:ext cx="6980555" cy="8223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分步推理：将复杂问题拆解为多个小步骤，依次解决。</a:t>
            </a:r>
            <a:endParaRPr lang="zh-CN" altLang="en-US"/>
          </a:p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提升准确性：尤其在数学、逻辑、常识推理等任务上，显著优于直接输出答案的传统方法。</a:t>
            </a:r>
            <a:endParaRPr lang="zh-CN" altLang="en-US"/>
          </a:p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模拟人类思维：不是简单“填空”，而是像人一样进行分析、推导和验证。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8401685" y="1828800"/>
            <a:ext cx="3028315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11235" y="1965960"/>
            <a:ext cx="219456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0440" y="2377440"/>
            <a:ext cx="255524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1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触发词：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请一步步思考……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请先分析，再给出结论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Let's think step by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144716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效果对比 / 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1005840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效果对比：</a:t>
            </a:r>
            <a:br/>
            <a:r>
              <a:t>❌ 普通提示 → 直接给答案，可能跳步出错</a:t>
            </a:r>
            <a:br/>
            <a:r>
              <a:t>✅ CoT提示 → 分步骤推理，准确率显著提升</a:t>
            </a:r>
          </a:p>
        </p:txBody>
      </p:sp>
      <p:sp>
        <p:nvSpPr>
          <p:cNvPr id="19" name="Rounded Rectangle 9"/>
          <p:cNvSpPr/>
          <p:nvPr/>
        </p:nvSpPr>
        <p:spPr>
          <a:xfrm>
            <a:off x="731520" y="5470525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框 13"/>
          <p:cNvSpPr txBox="1"/>
          <p:nvPr/>
        </p:nvSpPr>
        <p:spPr>
          <a:xfrm>
            <a:off x="1097280" y="5730240"/>
            <a:ext cx="10049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昨天下午 3 点左右，我们通过 </a:t>
            </a:r>
            <a:r>
              <a:rPr lang="en-US" altLang="zh-CN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批量上传 500 条订单，全部返回错误码 400。之前是正常的，请帮我</a:t>
            </a:r>
            <a:r>
              <a:rPr lang="zh-CN" altLang="en-US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r>
              <a:rPr lang="zh-CN" altLang="en-US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可能的原因。</a:t>
            </a:r>
            <a:endParaRPr lang="zh-CN" altLang="en-US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遇到复杂任务/故障排查时用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50" y="1965960"/>
            <a:ext cx="48653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原理</a:t>
            </a:r>
            <a:r>
              <a:rPr lang="zh-CN"/>
              <a:t>：</a:t>
            </a:r>
            <a:r>
              <a:rPr>
                <a:sym typeface="+mn-ea"/>
              </a:rPr>
              <a:t>思考→行动→观察，循环迭代，像侦探破案。</a:t>
            </a:r>
            <a:endParaRPr>
              <a:sym typeface="+mn-ea"/>
            </a:endParaRPr>
          </a:p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958215" y="2512060"/>
            <a:ext cx="4666615" cy="932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它不仅要求模型“思考”，还要求它能主动调用外部工具（如搜索、计算器、数据库等）来获取信息或执行操作，形成“思考 → 行动 → 观察”的闭环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219900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1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结构：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Thought: 下一步应该……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Action: 搜索XX日志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Observation: 发现……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→ 循环直到得出结论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325"/>
            <a:ext cx="10698480" cy="121729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8848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效果对比 / 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45685"/>
            <a:ext cx="9144000" cy="6223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适合：排查 Bug、分析日志、多步推理任务</a:t>
            </a:r>
          </a:p>
        </p:txBody>
      </p:sp>
      <p:sp>
        <p:nvSpPr>
          <p:cNvPr id="19" name="Rounded Rectangle 9"/>
          <p:cNvSpPr/>
          <p:nvPr/>
        </p:nvSpPr>
        <p:spPr>
          <a:xfrm>
            <a:off x="731520" y="5723255"/>
            <a:ext cx="10698480" cy="8712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本框 14"/>
          <p:cNvSpPr txBox="1"/>
          <p:nvPr/>
        </p:nvSpPr>
        <p:spPr>
          <a:xfrm>
            <a:off x="1092200" y="5932170"/>
            <a:ext cx="10063480" cy="4540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/>
            <a:r>
              <a:rPr lang="zh-CN" altLang="en-US" sz="160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汤姆</a:t>
            </a:r>
            <a:r>
              <a:rPr lang="en-US" altLang="zh-CN" sz="160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60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克鲁斯</a:t>
            </a:r>
            <a:r>
              <a:rPr lang="zh-CN" altLang="en-US" sz="180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最新</a:t>
            </a:r>
            <a:r>
              <a:rPr lang="zh-CN" altLang="en-US" sz="160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主演的电影是什么？它在 </a:t>
            </a:r>
            <a:r>
              <a:rPr lang="en-US" altLang="zh-CN" sz="160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IMDb </a:t>
            </a:r>
            <a:r>
              <a:rPr lang="zh-CN" altLang="en-US" sz="1600" i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上的评分是多少？</a:t>
            </a:r>
            <a:endParaRPr lang="zh-CN" altLang="en-US" sz="1600" i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ToT 思维树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遇到多方案选型时用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0910" y="1965960"/>
            <a:ext cx="455549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原理</a:t>
            </a:r>
            <a:r>
              <a:rPr lang="zh-CN"/>
              <a:t>：</a:t>
            </a:r>
            <a:r>
              <a:rPr>
                <a:sym typeface="+mn-ea"/>
              </a:rPr>
              <a:t>同时探索多条路径，打分对比，选最优解。</a:t>
            </a:r>
            <a:endParaRPr>
              <a:sym typeface="+mn-ea"/>
            </a:endParaRPr>
          </a:p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1014095" y="2488565"/>
            <a:ext cx="438912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让大语言模型（</a:t>
            </a:r>
            <a:r>
              <a:rPr lang="en-US" altLang="zh-CN"/>
              <a:t>LLM）</a:t>
            </a:r>
            <a:r>
              <a:rPr lang="zh-CN" altLang="en-US"/>
              <a:t>像人类一样，在解决问题时探索多条可能的推理路径，评估每条路径的可行性，并通过回溯、剪枝、选择最优分支来逼近正确答案。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1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方法：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1. 列出3条以上解决路径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2. 对每条路径分析优势/风险/代价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3. 打分，选出最优路径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113982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效果对比 / 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17720"/>
            <a:ext cx="9144000" cy="535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适合：架构选型、策略制定、有多解的创意任务</a:t>
            </a:r>
          </a:p>
        </p:txBody>
      </p:sp>
      <p:sp>
        <p:nvSpPr>
          <p:cNvPr id="19" name="Rounded Rectangle 9"/>
          <p:cNvSpPr/>
          <p:nvPr/>
        </p:nvSpPr>
        <p:spPr>
          <a:xfrm>
            <a:off x="704850" y="5528945"/>
            <a:ext cx="10698480" cy="8712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本框 14"/>
          <p:cNvSpPr txBox="1"/>
          <p:nvPr/>
        </p:nvSpPr>
        <p:spPr>
          <a:xfrm>
            <a:off x="1097280" y="5766435"/>
            <a:ext cx="10063480" cy="4540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/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给定四个数字（如</a:t>
            </a:r>
            <a:r>
              <a:rPr lang="en-US" altLang="zh-CN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en-US" altLang="zh-CN" sz="1600">
                <a:solidFill>
                  <a:srgbClr val="00B050"/>
                </a:solidFill>
                <a:latin typeface="ui-monospace"/>
                <a:ea typeface="ui-monospace"/>
                <a:sym typeface="+mn-ea"/>
              </a:rPr>
              <a:t>4, 7, 8, 8</a:t>
            </a:r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），使用</a:t>
            </a:r>
            <a:r>
              <a:rPr lang="en-US" altLang="zh-CN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en-US" altLang="zh-CN" sz="1600">
                <a:solidFill>
                  <a:srgbClr val="00B050"/>
                </a:solidFill>
                <a:latin typeface="ui-monospace"/>
                <a:ea typeface="ui-monospace"/>
                <a:sym typeface="+mn-ea"/>
              </a:rPr>
              <a:t>+ - × ÷</a:t>
            </a:r>
            <a:r>
              <a:rPr lang="en-US" altLang="zh-CN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 </a:t>
            </a:r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和括号，使结果等于 </a:t>
            </a:r>
            <a:r>
              <a:rPr lang="en-US" altLang="zh-CN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24</a:t>
            </a:r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1600" i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Few-Shot 少样本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遇到格式转换/风格要求时用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389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原理</a:t>
            </a:r>
            <a:endParaRPr lang="zh-CN"/>
          </a:p>
        </p:txBody>
      </p:sp>
      <p:sp>
        <p:nvSpPr>
          <p:cNvPr id="7" name="TextBox 6"/>
          <p:cNvSpPr txBox="1"/>
          <p:nvPr/>
        </p:nvSpPr>
        <p:spPr>
          <a:xfrm>
            <a:off x="1097280" y="2430780"/>
            <a:ext cx="438912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在提示（</a:t>
            </a:r>
            <a:r>
              <a:rPr lang="en-US" altLang="zh-CN"/>
              <a:t>prompt）</a:t>
            </a:r>
            <a:r>
              <a:rPr lang="zh-CN" altLang="en-US"/>
              <a:t>中提供少量（通常 1~5 个）输入-输出示例，引导模型理解任务格式和推理逻辑，从而在新样本上做出正确响应。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38912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判断以下句子的情感是正面还是负面：</a:t>
            </a:r>
            <a:endParaRPr lang="zh-CN" altLang="en-US"/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句子：这部电影太棒了，我看了三遍！情感：正面</a:t>
            </a:r>
            <a:endParaRPr lang="en-US" altLang="zh-CN"/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句子：服务差到极点，再也不会来了。情感：负面</a:t>
            </a:r>
            <a:endParaRPr lang="zh-CN" altLang="en-US"/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rPr lang="zh-CN" altLang="en-US"/>
              <a:t>句子：这个手机电池续航真的很一般。情感：</a:t>
            </a:r>
            <a:endParaRPr lang="zh-CN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112712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效果对比 / 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17720"/>
            <a:ext cx="9144000" cy="5226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适合：BUG描述规范化、报告模板化、风格迁移</a:t>
            </a:r>
            <a:r>
              <a:rPr>
                <a:sym typeface="+mn-ea"/>
              </a:rPr>
              <a:t>、</a:t>
            </a:r>
            <a:r>
              <a:rPr lang="zh-CN"/>
              <a:t>代码</a:t>
            </a:r>
            <a:r>
              <a:rPr lang="zh-CN"/>
              <a:t>生成</a:t>
            </a:r>
            <a:endParaRPr lang="zh-CN"/>
          </a:p>
        </p:txBody>
      </p:sp>
      <p:sp>
        <p:nvSpPr>
          <p:cNvPr id="19" name="Rounded Rectangle 9"/>
          <p:cNvSpPr/>
          <p:nvPr/>
        </p:nvSpPr>
        <p:spPr>
          <a:xfrm>
            <a:off x="731520" y="5516245"/>
            <a:ext cx="10698480" cy="8712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本框 14"/>
          <p:cNvSpPr txBox="1"/>
          <p:nvPr/>
        </p:nvSpPr>
        <p:spPr>
          <a:xfrm>
            <a:off x="1123950" y="5753735"/>
            <a:ext cx="10063480" cy="4540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/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编写代码的</a:t>
            </a:r>
            <a:r>
              <a:rPr lang="en-US" altLang="zh-CN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</a:t>
            </a:r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就是非常常见的</a:t>
            </a:r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例子</a:t>
            </a:r>
            <a:endParaRPr lang="zh-CN" altLang="en-US" sz="160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Self-Consistency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遇到高风险决策时用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原理：让模型用不同角度多次回答，取多数结果，减少偏差。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1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方法：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1. 让模型从3个不同角度独立回答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2. 综合3个答案给出结论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→ 单次输出可能有偏，多次取交集更可靠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117792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效果对比 / 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17720"/>
            <a:ext cx="9144000" cy="4641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适合：上线方案评审、重要判断、需要交叉验证的场景</a:t>
            </a:r>
          </a:p>
        </p:txBody>
      </p:sp>
      <p:sp>
        <p:nvSpPr>
          <p:cNvPr id="19" name="Rounded Rectangle 9"/>
          <p:cNvSpPr/>
          <p:nvPr/>
        </p:nvSpPr>
        <p:spPr>
          <a:xfrm>
            <a:off x="731520" y="5516245"/>
            <a:ext cx="10698480" cy="8712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本框 14"/>
          <p:cNvSpPr txBox="1"/>
          <p:nvPr/>
        </p:nvSpPr>
        <p:spPr>
          <a:xfrm>
            <a:off x="1123950" y="5753735"/>
            <a:ext cx="10063480" cy="4540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ctr"/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请从不同的角度</a:t>
            </a:r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评估这份方案是否</a:t>
            </a:r>
            <a:r>
              <a:rPr lang="zh-CN" altLang="en-US" sz="160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闭环</a:t>
            </a:r>
            <a:endParaRPr lang="zh-CN" altLang="en-US" sz="160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4.6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组合技法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实际任务中技法常叠加使用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Few-Shot + CoT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示例本身就包含推理步骤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Role +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角色扮演 + 迭代推理，Agent 标配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ToT + Self-Consistency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多路径探索 + 交叉验证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记住一件事：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提示词技法的本质是在帮模型节省「猜你想要什么」的消耗。你结构越清晰，模型表现越好。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你的岗位怎么用？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分角色实战  ·  随用随取模板  ·  现场练习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产品 / 运营 同学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164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典型任务（可直接用模板）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写需求文档 PRD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竞品分析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活动策划方案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用户反馈总结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164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提示词要点：明确用户画像、产品阶段、输出格式。避免「写得好一点」这类模糊表述。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提示词案例（可直接复制修改）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案例：你是有5年经验的产品专家，请为XX功能写一份PRD，包含背景、目标、功能列表、验收标准，输出Markdown格式。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开发 / 测试 同学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15709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典型任务（可直接用模板）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代码生成（含单测）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代码 Review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用例设计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Bug 根因分析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15709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提示词要点：指定语言版本、框架、异常情况处理要求。明确输出包含哪些部分。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提示词案例（可直接复制修改）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案例：你是Java资深工程师，请用Spring Boot 3.x写一个JWT登录接口，包含Controller、Service、单元测试、异常处理说明。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数据 / 分析 同学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11391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典型任务（可直接用模板）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SQL 生成与优化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异动分析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可视化方案建议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建模方案设计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10756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提示词要点：提供表结构、数据样本、业务背景。明确输出是SQL、图表还是文字分析。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提示词案例（可直接复制修改）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案例：你是数据分析师，请根据以下表结构生成SQL：找出本月活跃度下降超过20%的用户及其特征。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培训 / HR 同学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15709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典型任务（可直接用模板）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课程大纲设计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考试题目生成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培训效果评估方案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员工面谈提纲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15773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提示词要点：明确受众背景、培训目标、时长限制。要求输出可执行的方案。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提示词案例（可直接复制修改）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案例：你是企业培训专家，请为Java初学者设计一份3小时培训大纲，包含知识点、练习题、评估方式。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5.5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运维 / 技术支持 同学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11391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典型任务（可直接用模板）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故障排查 SOP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自动化脚本生成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监控告警方案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容量规划建议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029200" cy="2146935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提示词要点：明确系统架构、故障现象、已有排查步骤。强调「安全第一」原则。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提示词案例（可直接复制修改）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案例：你是SRE专家，请为K8s集群OOM问题编写排查SOP，包含症状、排查步骤、临时止血方案。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用 AI 要知道的边界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9890" y="2926080"/>
            <a:ext cx="62509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幻觉 · 隐私 · 提示词保护  ·  安全意识与能力同等重要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6.1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AI 会说谎——认识幻觉（Hallucination）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什么是幻觉？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AI 会信誓旦旦地给出完全错误的内容，尤其是：数字、日期、论文引用、法规条文、代码API名称。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029200" cy="24231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⚠  高风险场景（必须人工复核）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医疗建议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法律条款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财务数据</a:t>
            </a:r>
          </a:p>
          <a:p>
            <a:pPr algn="l">
              <a:lnSpc>
                <a:spcPts val="1950"/>
              </a:lnSpc>
              <a:spcAft>
                <a:spcPts val="200"/>
              </a:spcAft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代码中的API名称和参数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5029200" cy="24104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✅  减少幻觉的提示词策略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4747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明确告知「不确定时可以说不知道」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要求标注置信度：[需要验证]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提供上下文，避免AI「凭空生成」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要求引用来源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高风险输出必须人工复核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6.2 &amp; 6.3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不要把敏感信息喂给 AI  ·  提示词也需要保护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⚠  敏感信息清单（输入前务必脱敏）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客户数据、合同内容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员工个人信息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密码、Token、API Key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内部财务报表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未在公开网络出现的企业内部文档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🔒  提示词本身是资产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系统提示词是核心资产，防止被用户提取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不要在客户端明文存储系统提示词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对第三方 API 的数据使用条款要审查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✅  上线前安全检查清单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□ 是否对输入做了 Prompt Injection 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□ 是否在输出层加了内容安全过滤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□ 敏感数据是否在发送前脱敏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□ 高风险场景是否有免责声明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120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□ 对话日志是否有监控机制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□ 第三方API数据条款是否已审查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「提示词重要……也不重要」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9260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收尾  ·  认知升级  ·  衔接 AI 协作的未来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7.1-7.2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先告诉你一个事实：提示词正在隐身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以前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你要亲手写一段完整的提示词：</a:t>
            </a:r>
            <a:br/>
            <a:r>
              <a:t>角色、任务、约束、输出格式……</a:t>
            </a:r>
            <a:br/>
            <a:r>
              <a:t>写不好，输出就不好。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现在（趋势）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Agent 自动拆解任务、管理上下文、</a:t>
            </a:r>
            <a:br/>
            <a:r>
              <a:t>动态生成提示词——你直接说人话就行。</a:t>
            </a:r>
            <a:br/>
            <a:r>
              <a:t>提示词隐身于系统背后。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💡  类比理解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程序员不再写汇编代码，但汇编仍在底层运行。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提示词：看不见，不等于没有；不写，不等于无关。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7.3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「提示词重要……也不重要」——完整理解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✅  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不懂机制，就难以诊断 Agent 为何偏离目标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无法精准干预对话流向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它是模型理解「该做什么」的唯一依据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底层逻辑不会消失，只是你不直接写了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 panose="020B0503020204020204" charset="-122"/>
              </a:defRPr>
            </a:pPr>
            <a:r>
              <a:t>💡  也不重要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工具替你写，你感知不到它的存在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不必神化，它不是高深学问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普通人不需要懂底层，就像不需要懂汇编</a:t>
            </a:r>
          </a:p>
          <a:p>
            <a:pPr algn="l">
              <a:lnSpc>
                <a:spcPts val="1800"/>
              </a:lnSpc>
              <a:spcAft>
                <a:spcPts val="200"/>
              </a:spcAft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把精力放在「清晰表达需求」上，而不是「写提示词」上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你可以不写提示词，但不能不懂提示词。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7FF"/>
                </a:solidFill>
                <a:latin typeface="微软雅黑" panose="020B0503020204020204" charset="-122"/>
              </a:defRPr>
            </a:pPr>
            <a:r>
              <a:t>工具越智能，越需要穿透表象的洞察力。提示词会隐于幕后，但清晰的思考，永远是人机协作的基石。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现在就能做的三件事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今天回去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收藏你岗位对应的提示词模板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遇到任务，先套「三件套」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本周探索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8180" y="2286000"/>
            <a:ext cx="30956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试一次 CoT（「请一步步思考」）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8180" y="3017520"/>
            <a:ext cx="30956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试一次 Few-Shot（给一个好示例）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291840" cy="5486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长期习惯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6890" y="2286000"/>
            <a:ext cx="3088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记录好用的提示词，建立个人库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6890" y="3017520"/>
            <a:ext cx="320611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· 遇到不好的回答，先改提示词再换AI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附录资料</a:t>
            </a: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731520" y="13716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>
            <p:custDataLst>
              <p:tags r:id="rId2"/>
            </p:custDataLst>
          </p:nvPr>
        </p:nvSpPr>
        <p:spPr>
          <a:xfrm>
            <a:off x="731520" y="1371600"/>
            <a:ext cx="25603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91440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附录 A</a:t>
            </a: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100584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提示词技法速查卡</a:t>
            </a: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1005840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一页纸，随用随查，建议打印贴在工位</a:t>
            </a:r>
          </a:p>
        </p:txBody>
      </p:sp>
      <p:sp>
        <p:nvSpPr>
          <p:cNvPr id="8" name="Rounded Rectangle 7"/>
          <p:cNvSpPr/>
          <p:nvPr>
            <p:custDataLst>
              <p:tags r:id="rId6"/>
            </p:custDataLst>
          </p:nvPr>
        </p:nvSpPr>
        <p:spPr>
          <a:xfrm>
            <a:off x="3520440" y="13716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7"/>
            </p:custDataLst>
          </p:nvPr>
        </p:nvSpPr>
        <p:spPr>
          <a:xfrm>
            <a:off x="3520440" y="1371600"/>
            <a:ext cx="256032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370332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附录 B</a:t>
            </a: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3794760" y="2194560"/>
            <a:ext cx="227520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各岗位提示词模板汇总</a:t>
            </a: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3794760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按角色分组，直接复制可用</a:t>
            </a:r>
          </a:p>
        </p:txBody>
      </p:sp>
      <p:sp>
        <p:nvSpPr>
          <p:cNvPr id="13" name="Rounded Rectangle 12"/>
          <p:cNvSpPr/>
          <p:nvPr>
            <p:custDataLst>
              <p:tags r:id="rId11"/>
            </p:custDataLst>
          </p:nvPr>
        </p:nvSpPr>
        <p:spPr>
          <a:xfrm>
            <a:off x="6309360" y="13716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12"/>
            </p:custDataLst>
          </p:nvPr>
        </p:nvSpPr>
        <p:spPr>
          <a:xfrm>
            <a:off x="6309360" y="1371600"/>
            <a:ext cx="25603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3"/>
            </p:custDataLst>
          </p:nvPr>
        </p:nvSpPr>
        <p:spPr>
          <a:xfrm>
            <a:off x="649224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附录 C</a:t>
            </a:r>
          </a:p>
        </p:txBody>
      </p:sp>
      <p:sp>
        <p:nvSpPr>
          <p:cNvPr id="16" name="TextBox 15"/>
          <p:cNvSpPr txBox="1"/>
          <p:nvPr>
            <p:custDataLst>
              <p:tags r:id="rId14"/>
            </p:custDataLst>
          </p:nvPr>
        </p:nvSpPr>
        <p:spPr>
          <a:xfrm>
            <a:off x="658368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AI 使用红线清单</a:t>
            </a:r>
          </a:p>
        </p:txBody>
      </p:sp>
      <p:sp>
        <p:nvSpPr>
          <p:cNvPr id="17" name="TextBox 16"/>
          <p:cNvSpPr txBox="1"/>
          <p:nvPr>
            <p:custDataLst>
              <p:tags r:id="rId15"/>
            </p:custDataLst>
          </p:nvPr>
        </p:nvSpPr>
        <p:spPr>
          <a:xfrm>
            <a:off x="6583680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公司层面的安全规定，上线前必查</a:t>
            </a:r>
          </a:p>
        </p:txBody>
      </p:sp>
      <p:sp>
        <p:nvSpPr>
          <p:cNvPr id="18" name="Rounded Rectangle 17"/>
          <p:cNvSpPr/>
          <p:nvPr>
            <p:custDataLst>
              <p:tags r:id="rId16"/>
            </p:custDataLst>
          </p:nvPr>
        </p:nvSpPr>
        <p:spPr>
          <a:xfrm>
            <a:off x="9098279" y="1371600"/>
            <a:ext cx="256032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7"/>
            </p:custDataLst>
          </p:nvPr>
        </p:nvSpPr>
        <p:spPr>
          <a:xfrm>
            <a:off x="9098279" y="1371600"/>
            <a:ext cx="256032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8"/>
            </p:custDataLst>
          </p:nvPr>
        </p:nvSpPr>
        <p:spPr>
          <a:xfrm>
            <a:off x="9281159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附录 D</a:t>
            </a:r>
          </a:p>
        </p:txBody>
      </p:sp>
      <p:sp>
        <p:nvSpPr>
          <p:cNvPr id="21" name="TextBox 20"/>
          <p:cNvSpPr txBox="1"/>
          <p:nvPr>
            <p:custDataLst>
              <p:tags r:id="rId19"/>
            </p:custDataLst>
          </p:nvPr>
        </p:nvSpPr>
        <p:spPr>
          <a:xfrm>
            <a:off x="9372599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「重要也不重要」核心观点速览</a:t>
            </a:r>
          </a:p>
        </p:txBody>
      </p:sp>
      <p:sp>
        <p:nvSpPr>
          <p:cNvPr id="22" name="TextBox 21"/>
          <p:cNvSpPr txBox="1"/>
          <p:nvPr>
            <p:custDataLst>
              <p:tags r:id="rId20"/>
            </p:custDataLst>
          </p:nvPr>
        </p:nvSpPr>
        <p:spPr>
          <a:xfrm>
            <a:off x="9372599" y="29260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一页纸，建立正确 AI 协作认知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微软雅黑" panose="020B0503020204020204" charset="-122"/>
              </a:defRPr>
            </a:pPr>
            <a:r>
              <a:t>谢谢！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0175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提示词会隐于幕后，但清晰的思考，永远是人机协作的基石。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2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3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4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5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6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7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8.xml><?xml version="1.0" encoding="utf-8"?>
<p:tagLst xmlns:p="http://schemas.openxmlformats.org/presentationml/2006/main">
  <p:tag name="KSO_WM_DIAGRAM_VIRTUALLY_FRAME" val="{&quot;height&quot;:158.4,&quot;left&quot;:57.6,&quot;top&quot;:122.4,&quot;width&quot;:842.4}"/>
</p:tagLst>
</file>

<file path=ppt/tags/tag9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0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1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2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3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4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5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6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7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8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19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20.xml><?xml version="1.0" encoding="utf-8"?>
<p:tagLst xmlns:p="http://schemas.openxmlformats.org/presentationml/2006/main">
  <p:tag name="KSO_WM_DIAGRAM_VIRTUALLY_FRAME" val="{&quot;height&quot;:252,&quot;left&quot;:57.6,&quot;top&quot;:129.6,&quot;width&quot;:835.2}"/>
</p:tagLst>
</file>

<file path=ppt/tags/tag21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2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3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4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5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6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7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8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29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0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1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2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3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4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5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6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7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8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39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ags/tag40.xml><?xml version="1.0" encoding="utf-8"?>
<p:tagLst xmlns:p="http://schemas.openxmlformats.org/presentationml/2006/main">
  <p:tag name="KSO_WM_DIAGRAM_VIRTUALLY_FRAME" val="{&quot;height&quot;:252,&quot;left&quot;:57.6,&quot;top&quot;:108,&quot;width&quot;:860.3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5425</Words>
  <Application>WPS 演示</Application>
  <PresentationFormat>On-screen Show (4:3)</PresentationFormat>
  <Paragraphs>725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ui-monospace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崔津铭</cp:lastModifiedBy>
  <cp:revision>33</cp:revision>
  <dcterms:created xsi:type="dcterms:W3CDTF">2013-01-27T09:14:00Z</dcterms:created>
  <dcterms:modified xsi:type="dcterms:W3CDTF">2026-05-20T09:25:52Z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F710E9F63A6947C8B6DB6FBE962A4C27_12</vt:lpwstr>
  </property>
</Properties>
</file>