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4" r:id="rId49"/>
    <p:sldId id="305" r:id="rId50"/>
    <p:sldId id="306" r:id="rId51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4" Type="http://schemas.openxmlformats.org/officeDocument/2006/relationships/tableStyles" Target="tableStyles.xml"/><Relationship Id="rId53" Type="http://schemas.openxmlformats.org/officeDocument/2006/relationships/viewProps" Target="viewProps.xml"/><Relationship Id="rId52" Type="http://schemas.openxmlformats.org/officeDocument/2006/relationships/presProps" Target="presProps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6" Type="http://schemas.openxmlformats.org/officeDocument/2006/relationships/notesSlide" Target="../notesSlides/notesSlide30.xml"/><Relationship Id="rId35" Type="http://schemas.openxmlformats.org/officeDocument/2006/relationships/slideLayout" Target="../slideLayouts/slideLayout1.xml"/><Relationship Id="rId34" Type="http://schemas.openxmlformats.org/officeDocument/2006/relationships/tags" Target="../tags/tag34.xml"/><Relationship Id="rId33" Type="http://schemas.openxmlformats.org/officeDocument/2006/relationships/tags" Target="../tags/tag33.xml"/><Relationship Id="rId32" Type="http://schemas.openxmlformats.org/officeDocument/2006/relationships/tags" Target="../tags/tag32.xml"/><Relationship Id="rId31" Type="http://schemas.openxmlformats.org/officeDocument/2006/relationships/tags" Target="../tags/tag31.xml"/><Relationship Id="rId30" Type="http://schemas.openxmlformats.org/officeDocument/2006/relationships/tags" Target="../tags/tag30.xml"/><Relationship Id="rId3" Type="http://schemas.openxmlformats.org/officeDocument/2006/relationships/tags" Target="../tags/tag3.xml"/><Relationship Id="rId29" Type="http://schemas.openxmlformats.org/officeDocument/2006/relationships/tags" Target="../tags/tag29.xml"/><Relationship Id="rId28" Type="http://schemas.openxmlformats.org/officeDocument/2006/relationships/tags" Target="../tags/tag28.xml"/><Relationship Id="rId27" Type="http://schemas.openxmlformats.org/officeDocument/2006/relationships/tags" Target="../tags/tag27.xml"/><Relationship Id="rId26" Type="http://schemas.openxmlformats.org/officeDocument/2006/relationships/tags" Target="../tags/tag26.xml"/><Relationship Id="rId25" Type="http://schemas.openxmlformats.org/officeDocument/2006/relationships/tags" Target="../tags/tag25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8.xml"/><Relationship Id="rId7" Type="http://schemas.openxmlformats.org/officeDocument/2006/relationships/slideLayout" Target="../slideLayouts/slideLayout1.xml"/><Relationship Id="rId6" Type="http://schemas.openxmlformats.org/officeDocument/2006/relationships/tags" Target="../tags/tag40.xml"/><Relationship Id="rId5" Type="http://schemas.openxmlformats.org/officeDocument/2006/relationships/tags" Target="../tags/tag39.xml"/><Relationship Id="rId4" Type="http://schemas.openxmlformats.org/officeDocument/2006/relationships/tags" Target="../tags/tag38.xml"/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" Type="http://schemas.openxmlformats.org/officeDocument/2006/relationships/tags" Target="../tags/tag3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283A6E">
              <a:alpha val="50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7772400" y="3200400"/>
            <a:ext cx="2743200" cy="2743200"/>
          </a:xfrm>
          <a:prstGeom prst="ellipse">
            <a:avLst/>
          </a:prstGeom>
          <a:solidFill>
            <a:srgbClr val="4A90D9">
              <a:alpha val="30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A90D9"/>
          </a:solidFill>
        </p:spPr>
      </p:sp>
      <p:sp>
        <p:nvSpPr>
          <p:cNvPr id="5" name="Text 3"/>
          <p:cNvSpPr/>
          <p:nvPr/>
        </p:nvSpPr>
        <p:spPr>
          <a:xfrm>
            <a:off x="548640" y="1463040"/>
            <a:ext cx="731520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Agent 上下文管理全解析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2286000" cy="0"/>
          </a:xfrm>
          <a:prstGeom prst="line">
            <a:avLst/>
          </a:prstGeom>
          <a:noFill/>
          <a:ln w="38100">
            <a:solidFill>
              <a:srgbClr val="4A90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926080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A0B4D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Agent 如何管理人与 LLM 的交互 | 内部培训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9B233"/>
          </a:solidFill>
        </p:spPr>
      </p:sp>
      <p:sp>
        <p:nvSpPr>
          <p:cNvPr id="3" name="Text 1"/>
          <p:cNvSpPr/>
          <p:nvPr/>
        </p:nvSpPr>
        <p:spPr>
          <a:xfrm>
            <a:off x="457200" y="731520"/>
            <a:ext cx="2286000" cy="182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0" b="1" dirty="0">
                <a:solidFill>
                  <a:srgbClr val="4A90D9">
                    <a:alpha val="70000"/>
                  </a:srgb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548640" y="301752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A0B4D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第一章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0" y="1828800"/>
            <a:ext cx="59436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从"单轮问答"到"智能协作"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2743200" y="3017520"/>
            <a:ext cx="1828800" cy="0"/>
          </a:xfrm>
          <a:prstGeom prst="line">
            <a:avLst/>
          </a:prstGeom>
          <a:noFill/>
          <a:ln w="38100">
            <a:solidFill>
              <a:srgbClr val="F9B233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你已经知道的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37160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你会写 Prompt，知道大模型能回答问题</a:t>
            </a:r>
            <a:endParaRPr lang="en-US" sz="1600" dirty="0"/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你知道 System Prompt 可以设定角色</a:t>
            </a:r>
            <a:endParaRPr lang="en-US" sz="1600" dirty="0"/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但你可能困惑：为什么有的 AI 工具"记性好"，有的转头就忘？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这节课回答的核心问题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37160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现代 Agent 如何在多轮对话中"记住"之前说了什么？</a:t>
            </a:r>
            <a:endParaRPr lang="en-US" sz="1600" dirty="0"/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Agent 能调用外部工具、查数据库、发邮件 —— 这是怎么做到的？</a:t>
            </a:r>
            <a:endParaRPr lang="en-US" sz="1600" dirty="0"/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为什么同一个大模型，不同产品体验天差地别？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8775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总架构图：</a:t>
            </a:r>
            <a:endParaRPr lang="en-US" sz="2400" b="1" dirty="0">
              <a:solidFill>
                <a:srgbClr val="CADCFC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l">
              <a:buNone/>
            </a:pPr>
            <a:r>
              <a:rPr lang="en-US" sz="2400" b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Agent 上下文管理全流程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5669280" y="457200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B4D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Hook: before_tool_call → 执行 → 回注上下文</a:t>
            </a:r>
            <a:endParaRPr lang="en-US" sz="800" dirty="0"/>
          </a:p>
        </p:txBody>
      </p:sp>
      <p:grpSp>
        <p:nvGrpSpPr>
          <p:cNvPr id="31" name="组合 30"/>
          <p:cNvGrpSpPr/>
          <p:nvPr/>
        </p:nvGrpSpPr>
        <p:grpSpPr>
          <a:xfrm>
            <a:off x="4532630" y="173990"/>
            <a:ext cx="4434840" cy="4875530"/>
            <a:chOff x="4908" y="216"/>
            <a:chExt cx="6984" cy="7678"/>
          </a:xfrm>
        </p:grpSpPr>
        <p:sp>
          <p:nvSpPr>
            <p:cNvPr id="32" name="矩形 31"/>
            <p:cNvSpPr/>
            <p:nvPr/>
          </p:nvSpPr>
          <p:spPr>
            <a:xfrm>
              <a:off x="4908" y="216"/>
              <a:ext cx="6985" cy="7679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pic>
          <p:nvPicPr>
            <p:cNvPr id="33" name="图片 32" descr="AI工作流程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261" y="216"/>
              <a:ext cx="6279" cy="7563"/>
            </a:xfrm>
            <a:prstGeom prst="rect">
              <a:avLst/>
            </a:prstGeom>
          </p:spPr>
        </p:pic>
      </p:grpSp>
      <p:graphicFrame>
        <p:nvGraphicFramePr>
          <p:cNvPr id="34" name="Table 0"/>
          <p:cNvGraphicFramePr>
            <a:graphicFrameLocks noGrp="1"/>
          </p:cNvGraphicFramePr>
          <p:nvPr/>
        </p:nvGraphicFramePr>
        <p:xfrm>
          <a:off x="367665" y="1411605"/>
          <a:ext cx="3811270" cy="3067050"/>
        </p:xfrm>
        <a:graphic>
          <a:graphicData uri="http://schemas.openxmlformats.org/drawingml/2006/table">
            <a:tbl>
              <a:tblPr/>
              <a:tblGrid>
                <a:gridCol w="1583690"/>
                <a:gridCol w="2227580"/>
              </a:tblGrid>
              <a:tr h="4127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对应架构图模块</a:t>
                      </a:r>
                      <a:endParaRPr lang="en-US" sz="1000" b="1" dirty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核心问题</a:t>
                      </a:r>
                      <a:endParaRPr lang="en-US" sz="1000" b="1" dirty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D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上下文组装、Token编码</a:t>
                      </a:r>
                      <a:endParaRPr lang="en-US" sz="1000" dirty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上下文到底是什么？由谁管？</a:t>
                      </a:r>
                      <a:endParaRPr lang="en-US" sz="1000" dirty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A6E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Context Window 限制</a:t>
                      </a:r>
                      <a:endParaRPr lang="en-US" sz="1000" dirty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窗口装不下怎么办？</a:t>
                      </a:r>
                      <a:endParaRPr lang="en-US" sz="1000" dirty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50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多轮对话记忆</a:t>
                      </a:r>
                      <a:endParaRPr lang="en-US" sz="1000" dirty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Agent 如何"记住"对话？</a:t>
                      </a:r>
                      <a:endParaRPr lang="en-US" sz="1000" dirty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A6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外部知识注入</a:t>
                      </a:r>
                      <a:endParaRPr lang="en-US" sz="1000" dirty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如何给 LLM 补充它不知道的知识？</a:t>
                      </a:r>
                      <a:endParaRPr lang="en-US" sz="1000" dirty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5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可调用工具 + 规则约束</a:t>
                      </a:r>
                      <a:endParaRPr lang="en-US" sz="1000" dirty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Agent 如何"动手"干活？</a:t>
                      </a:r>
                      <a:endParaRPr lang="en-US" sz="1000" dirty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A6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Hook 触发点</a:t>
                      </a:r>
                      <a:endParaRPr lang="en-US" sz="1000" dirty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如何监控、拦截、审计 Agent 行为？</a:t>
                      </a:r>
                      <a:endParaRPr lang="en-US" sz="1000" dirty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5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9B233"/>
          </a:solidFill>
        </p:spPr>
      </p:sp>
      <p:sp>
        <p:nvSpPr>
          <p:cNvPr id="3" name="Text 1"/>
          <p:cNvSpPr/>
          <p:nvPr/>
        </p:nvSpPr>
        <p:spPr>
          <a:xfrm>
            <a:off x="457200" y="731520"/>
            <a:ext cx="2286000" cy="182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0" b="1" dirty="0">
                <a:solidFill>
                  <a:srgbClr val="4A90D9">
                    <a:alpha val="70000"/>
                  </a:srgb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548640" y="301752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A0B4D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第二章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0" y="1828800"/>
            <a:ext cx="59436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上下文基础 — </a:t>
            </a:r>
            <a:endParaRPr lang="en-US" sz="34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Agent 的"工作记忆"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2743200" y="3017520"/>
            <a:ext cx="1828800" cy="0"/>
          </a:xfrm>
          <a:prstGeom prst="line">
            <a:avLst/>
          </a:prstGeom>
          <a:noFill/>
          <a:ln w="38100">
            <a:solidFill>
              <a:srgbClr val="F9B233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什么是上下文（Context）？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37160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定义：单次调用 LLM 时传入的所有文本内容的总和</a:t>
            </a:r>
            <a:endParaRPr lang="en-US" sz="1600" dirty="0"/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包含：System Prompt + 历史对话 + 当前输入 + 工具调用描述 + 其他元信息</a:t>
            </a:r>
            <a:endParaRPr lang="en-US" sz="1600" dirty="0"/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关键认知：LLM 本身无状态，每次推理仅基于本次传入的完整上下文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上下文由谁负责？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137160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828800"/>
            <a:ext cx="1645920" cy="640080"/>
          </a:xfrm>
          <a:prstGeom prst="rect">
            <a:avLst/>
          </a:prstGeom>
          <a:solidFill>
            <a:srgbClr val="F9B233"/>
          </a:solidFill>
        </p:spPr>
      </p:sp>
      <p:sp>
        <p:nvSpPr>
          <p:cNvPr id="6" name="Text 4"/>
          <p:cNvSpPr/>
          <p:nvPr/>
        </p:nvSpPr>
        <p:spPr>
          <a:xfrm>
            <a:off x="457200" y="1828800"/>
            <a:ext cx="16459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用户输入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103120" y="2148840"/>
            <a:ext cx="54864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0" y="1463040"/>
            <a:ext cx="2286000" cy="1371600"/>
          </a:xfrm>
          <a:prstGeom prst="rect">
            <a:avLst/>
          </a:prstGeom>
          <a:solidFill>
            <a:srgbClr val="4A90D9"/>
          </a:solidFill>
        </p:spPr>
      </p:sp>
      <p:sp>
        <p:nvSpPr>
          <p:cNvPr id="9" name="Text 7"/>
          <p:cNvSpPr/>
          <p:nvPr/>
        </p:nvSpPr>
        <p:spPr>
          <a:xfrm>
            <a:off x="2743200" y="1463040"/>
            <a:ext cx="228600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Agent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(上下文管理器)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0" y="2148840"/>
            <a:ext cx="54864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0" y="1828800"/>
            <a:ext cx="1645920" cy="640080"/>
          </a:xfrm>
          <a:prstGeom prst="rect">
            <a:avLst/>
          </a:prstGeom>
          <a:solidFill>
            <a:srgbClr val="2E4080"/>
          </a:solidFill>
        </p:spPr>
      </p:sp>
      <p:sp>
        <p:nvSpPr>
          <p:cNvPr id="12" name="Text 10"/>
          <p:cNvSpPr/>
          <p:nvPr/>
        </p:nvSpPr>
        <p:spPr>
          <a:xfrm>
            <a:off x="5669280" y="1828800"/>
            <a:ext cx="16459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完整 Prompt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0" y="2148840"/>
            <a:ext cx="54864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55280" y="1828800"/>
            <a:ext cx="914400" cy="640080"/>
          </a:xfrm>
          <a:prstGeom prst="rect">
            <a:avLst/>
          </a:prstGeom>
          <a:solidFill>
            <a:srgbClr val="2D7A4F"/>
          </a:solidFill>
        </p:spPr>
      </p:sp>
      <p:sp>
        <p:nvSpPr>
          <p:cNvPr id="15" name="Text 13"/>
          <p:cNvSpPr/>
          <p:nvPr/>
        </p:nvSpPr>
        <p:spPr>
          <a:xfrm>
            <a:off x="7955280" y="1828800"/>
            <a:ext cx="914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LLM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80135" y="3199765"/>
            <a:ext cx="1645920" cy="457200"/>
          </a:xfrm>
          <a:prstGeom prst="rect">
            <a:avLst/>
          </a:prstGeom>
          <a:solidFill>
            <a:srgbClr val="1A2550"/>
          </a:solidFill>
        </p:spPr>
      </p:sp>
      <p:sp>
        <p:nvSpPr>
          <p:cNvPr id="17" name="Text 15"/>
          <p:cNvSpPr/>
          <p:nvPr/>
        </p:nvSpPr>
        <p:spPr>
          <a:xfrm>
            <a:off x="1080135" y="3199765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Prompt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908935" y="3199765"/>
            <a:ext cx="1371600" cy="457200"/>
          </a:xfrm>
          <a:prstGeom prst="rect">
            <a:avLst/>
          </a:prstGeom>
          <a:solidFill>
            <a:srgbClr val="1A2550"/>
          </a:solidFill>
        </p:spPr>
      </p:sp>
      <p:sp>
        <p:nvSpPr>
          <p:cNvPr id="19" name="Text 17"/>
          <p:cNvSpPr/>
          <p:nvPr/>
        </p:nvSpPr>
        <p:spPr>
          <a:xfrm>
            <a:off x="2908935" y="3199765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对话</a:t>
            </a: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历史记录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463415" y="3199765"/>
            <a:ext cx="1371600" cy="457200"/>
          </a:xfrm>
          <a:prstGeom prst="rect">
            <a:avLst/>
          </a:prstGeom>
          <a:solidFill>
            <a:srgbClr val="1A2550"/>
          </a:solidFill>
        </p:spPr>
      </p:sp>
      <p:sp>
        <p:nvSpPr>
          <p:cNvPr id="21" name="Text 19"/>
          <p:cNvSpPr/>
          <p:nvPr/>
        </p:nvSpPr>
        <p:spPr>
          <a:xfrm>
            <a:off x="4463415" y="3199765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工具结果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017895" y="3199765"/>
            <a:ext cx="1371600" cy="457200"/>
          </a:xfrm>
          <a:prstGeom prst="rect">
            <a:avLst/>
          </a:prstGeom>
          <a:solidFill>
            <a:srgbClr val="1A2550"/>
          </a:solidFill>
        </p:spPr>
      </p:sp>
      <p:sp>
        <p:nvSpPr>
          <p:cNvPr id="23" name="Text 21"/>
          <p:cNvSpPr/>
          <p:nvPr/>
        </p:nvSpPr>
        <p:spPr>
          <a:xfrm>
            <a:off x="6017895" y="3199765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检索知识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 flipV="1">
            <a:off x="2128520" y="2835275"/>
            <a:ext cx="609600" cy="36449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43300" y="2816860"/>
            <a:ext cx="100965" cy="38354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58030" y="2829560"/>
            <a:ext cx="488315" cy="370205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A0B4D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Agent 负责组织和管理上下文，LLM 只管接收和推理。上下文管理能力 = Agent 的"核心内功"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5029200" y="2817495"/>
            <a:ext cx="1680210" cy="390525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上下文窗口（Context Window）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37160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定义：模型单次能处理的最大 token 数量（如 8K / 32K / 128K / 200K）</a:t>
            </a:r>
            <a:endParaRPr lang="en-US" sz="1600" dirty="0"/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误区纠正：不是"我这次输入短就不会超" —— 历史对话也计入！</a:t>
            </a:r>
            <a:endParaRPr lang="en-US" sz="1600" dirty="0"/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上下文窗口 = 输入上限（某些旧模型 = 输入 + 输出总和）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参数量 vs 上下文长度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37160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/>
        </p:nvGraphicFramePr>
        <p:xfrm>
          <a:off x="457200" y="1097280"/>
          <a:ext cx="8229600" cy="3474720"/>
        </p:xfrm>
        <a:graphic>
          <a:graphicData uri="http://schemas.openxmlformats.org/drawingml/2006/table">
            <a:tbl>
              <a:tblPr/>
              <a:tblGrid>
                <a:gridCol w="1828800"/>
                <a:gridCol w="3200400"/>
                <a:gridCol w="3200400"/>
              </a:tblGrid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维度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参数量（如 7B、70B）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上下文长度（如 128K）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D9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含义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模型"智力水平"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模型"记忆窗口"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A6E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决定因素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训练数据 + 架构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位置编码 + 工程优化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50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典型值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100M ~ 1T+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4K ~ 200K+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A6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上下文管理策略对比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37160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/>
        </p:nvGraphicFramePr>
        <p:xfrm>
          <a:off x="457200" y="1097280"/>
          <a:ext cx="8229600" cy="3474720"/>
        </p:xfrm>
        <a:graphic>
          <a:graphicData uri="http://schemas.openxmlformats.org/drawingml/2006/table">
            <a:tbl>
              <a:tblPr/>
              <a:tblGrid>
                <a:gridCol w="1828800"/>
                <a:gridCol w="3200400"/>
                <a:gridCol w="3200400"/>
              </a:tblGrid>
              <a:tr h="6949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策略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做法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效果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D9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全量拼接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全部历史直接拼接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简单但易超限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A6E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智能截断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保留最近 N 轮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可能丢失早期指令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50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对话摘要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定期生成摘要替代早期对话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节省 token，可能损失细节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A6E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RAG 注入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仅检索最相关知识片段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精准高效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5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Token 预算管理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137160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solidFill>
            <a:srgbClr val="1A2550"/>
          </a:solidFill>
        </p:spPr>
      </p:sp>
      <p:sp>
        <p:nvSpPr>
          <p:cNvPr id="6" name="Text 4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BB3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可用 Token = 上下文窗口 - System Prompt - 历史对话 - 当前输入 - 预留输出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0B4D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注入优先级（从高到低）：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377440"/>
            <a:ext cx="7772400" cy="411480"/>
          </a:xfrm>
          <a:prstGeom prst="rect">
            <a:avLst/>
          </a:prstGeom>
          <a:solidFill>
            <a:srgbClr val="4A90D9"/>
          </a:solidFill>
        </p:spPr>
      </p:sp>
      <p:sp>
        <p:nvSpPr>
          <p:cNvPr id="9" name="Text 7"/>
          <p:cNvSpPr/>
          <p:nvPr/>
        </p:nvSpPr>
        <p:spPr>
          <a:xfrm>
            <a:off x="731520" y="2377440"/>
            <a:ext cx="75895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当前输入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926080"/>
            <a:ext cx="5943600" cy="411480"/>
          </a:xfrm>
          <a:prstGeom prst="rect">
            <a:avLst/>
          </a:prstGeom>
          <a:solidFill>
            <a:srgbClr val="2E4080"/>
          </a:solidFill>
        </p:spPr>
      </p:sp>
      <p:sp>
        <p:nvSpPr>
          <p:cNvPr id="11" name="Text 9"/>
          <p:cNvSpPr/>
          <p:nvPr/>
        </p:nvSpPr>
        <p:spPr>
          <a:xfrm>
            <a:off x="731520" y="2926080"/>
            <a:ext cx="57607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最近历史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474720"/>
            <a:ext cx="4114800" cy="411480"/>
          </a:xfrm>
          <a:prstGeom prst="rect">
            <a:avLst/>
          </a:prstGeom>
          <a:solidFill>
            <a:srgbClr val="283A6E"/>
          </a:solidFill>
        </p:spPr>
      </p:sp>
      <p:sp>
        <p:nvSpPr>
          <p:cNvPr id="13" name="Text 11"/>
          <p:cNvSpPr/>
          <p:nvPr/>
        </p:nvSpPr>
        <p:spPr>
          <a:xfrm>
            <a:off x="731520" y="3474720"/>
            <a:ext cx="3931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高置信度检索结果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4023360"/>
            <a:ext cx="2286000" cy="411480"/>
          </a:xfrm>
          <a:prstGeom prst="rect">
            <a:avLst/>
          </a:prstGeom>
          <a:solidFill>
            <a:srgbClr val="1A2550"/>
          </a:solidFill>
        </p:spPr>
      </p:sp>
      <p:sp>
        <p:nvSpPr>
          <p:cNvPr id="15" name="Text 13"/>
          <p:cNvSpPr/>
          <p:nvPr/>
        </p:nvSpPr>
        <p:spPr>
          <a:xfrm>
            <a:off x="731520" y="4023360"/>
            <a:ext cx="21031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低置信度片段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9B2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核心原则：精准补充，而非堆砌信息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9B233"/>
          </a:solidFill>
        </p:spPr>
      </p:sp>
      <p:sp>
        <p:nvSpPr>
          <p:cNvPr id="3" name="Text 1"/>
          <p:cNvSpPr/>
          <p:nvPr/>
        </p:nvSpPr>
        <p:spPr>
          <a:xfrm>
            <a:off x="457200" y="731520"/>
            <a:ext cx="2286000" cy="182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0" b="1" dirty="0">
                <a:solidFill>
                  <a:srgbClr val="4A90D9">
                    <a:alpha val="70000"/>
                  </a:srgb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548640" y="301752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A0B4D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第三章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0" y="1828800"/>
            <a:ext cx="59436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上下文窗口超限处理 — </a:t>
            </a:r>
            <a:endParaRPr lang="en-US" sz="34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当"记忆"装不下时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2743200" y="3017520"/>
            <a:ext cx="1828800" cy="0"/>
          </a:xfrm>
          <a:prstGeom prst="line">
            <a:avLst/>
          </a:prstGeom>
          <a:noFill/>
          <a:ln w="38100">
            <a:solidFill>
              <a:srgbClr val="F9B233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为什么会超限？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37160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对话轮次过多 → 历史消息累积</a:t>
            </a:r>
            <a:endParaRPr lang="en-US" sz="1600" dirty="0"/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输入内容过长 → 长文档、代码文件</a:t>
            </a:r>
            <a:endParaRPr lang="en-US" sz="1600" dirty="0"/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Prompt 冗余 → 过多示例和规则</a:t>
            </a:r>
            <a:endParaRPr lang="en-US" sz="1600" dirty="0"/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工具调用日志冗长 → Agent 执行多步操作后拼接结果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谁来处理超限？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37160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Agent（应用层）负责，LLM 本身不负责裁剪</a:t>
            </a:r>
            <a:endParaRPr lang="en-US" sz="1600" dirty="0"/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必须在调用 LLM 之前主动检查和管理</a:t>
            </a:r>
            <a:endParaRPr lang="en-US" sz="1600" dirty="0"/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不能依赖托管 API 的黑盒"自动截断"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六大策略演进路线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137160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2377440"/>
            <a:ext cx="8229600" cy="73152"/>
          </a:xfrm>
          <a:prstGeom prst="rect">
            <a:avLst/>
          </a:prstGeom>
          <a:solidFill>
            <a:srgbClr val="3D5A9E"/>
          </a:solidFill>
        </p:spPr>
      </p:sp>
      <p:sp>
        <p:nvSpPr>
          <p:cNvPr id="6" name="Shape 4"/>
          <p:cNvSpPr/>
          <p:nvPr/>
        </p:nvSpPr>
        <p:spPr>
          <a:xfrm>
            <a:off x="8229600" y="2414016"/>
            <a:ext cx="457200" cy="0"/>
          </a:xfrm>
          <a:prstGeom prst="line">
            <a:avLst/>
          </a:prstGeom>
          <a:noFill/>
          <a:ln w="25400">
            <a:solidFill>
              <a:srgbClr val="3D5A9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88720"/>
            <a:ext cx="1280160" cy="822960"/>
          </a:xfrm>
          <a:prstGeom prst="rect">
            <a:avLst/>
          </a:prstGeom>
          <a:solidFill>
            <a:srgbClr val="1A2550"/>
          </a:solidFill>
        </p:spPr>
      </p:sp>
      <p:sp>
        <p:nvSpPr>
          <p:cNvPr id="8" name="Text 6"/>
          <p:cNvSpPr/>
          <p:nvPr/>
        </p:nvSpPr>
        <p:spPr>
          <a:xfrm>
            <a:off x="457200" y="1188720"/>
            <a:ext cx="12801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直接截断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B4D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最简单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874520" y="1188720"/>
            <a:ext cx="1280160" cy="822960"/>
          </a:xfrm>
          <a:prstGeom prst="rect">
            <a:avLst/>
          </a:prstGeom>
          <a:solidFill>
            <a:srgbClr val="283A6E"/>
          </a:solidFill>
        </p:spPr>
      </p:sp>
      <p:sp>
        <p:nvSpPr>
          <p:cNvPr id="11" name="Text 9"/>
          <p:cNvSpPr/>
          <p:nvPr/>
        </p:nvSpPr>
        <p:spPr>
          <a:xfrm>
            <a:off x="1874520" y="1188720"/>
            <a:ext cx="12801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滑动窗口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874520" y="274320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B4D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最常用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91840" y="1188720"/>
            <a:ext cx="1280160" cy="822960"/>
          </a:xfrm>
          <a:prstGeom prst="rect">
            <a:avLst/>
          </a:prstGeom>
          <a:solidFill>
            <a:srgbClr val="283A6E"/>
          </a:solidFill>
        </p:spPr>
      </p:sp>
      <p:sp>
        <p:nvSpPr>
          <p:cNvPr id="14" name="Text 12"/>
          <p:cNvSpPr/>
          <p:nvPr/>
        </p:nvSpPr>
        <p:spPr>
          <a:xfrm>
            <a:off x="3291840" y="1188720"/>
            <a:ext cx="12801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中间截断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91840" y="274320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B4D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首尾保护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09160" y="1188720"/>
            <a:ext cx="1280160" cy="822960"/>
          </a:xfrm>
          <a:prstGeom prst="rect">
            <a:avLst/>
          </a:prstGeom>
          <a:solidFill>
            <a:srgbClr val="2E4080"/>
          </a:solidFill>
        </p:spPr>
      </p:sp>
      <p:sp>
        <p:nvSpPr>
          <p:cNvPr id="17" name="Text 15"/>
          <p:cNvSpPr/>
          <p:nvPr/>
        </p:nvSpPr>
        <p:spPr>
          <a:xfrm>
            <a:off x="4709160" y="1188720"/>
            <a:ext cx="12801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智能摘要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09160" y="274320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B4D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信息密度高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26480" y="1188720"/>
            <a:ext cx="1280160" cy="822960"/>
          </a:xfrm>
          <a:prstGeom prst="rect">
            <a:avLst/>
          </a:prstGeom>
          <a:solidFill>
            <a:srgbClr val="4A90D9"/>
          </a:solidFill>
        </p:spPr>
      </p:sp>
      <p:sp>
        <p:nvSpPr>
          <p:cNvPr id="20" name="Text 18"/>
          <p:cNvSpPr/>
          <p:nvPr/>
        </p:nvSpPr>
        <p:spPr>
          <a:xfrm>
            <a:off x="6126480" y="1188720"/>
            <a:ext cx="12801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分层+RAG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26480" y="274320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B4D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企业级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543800" y="1188720"/>
            <a:ext cx="1280160" cy="822960"/>
          </a:xfrm>
          <a:prstGeom prst="rect">
            <a:avLst/>
          </a:prstGeom>
          <a:solidFill>
            <a:srgbClr val="4A90D9"/>
          </a:solidFill>
        </p:spPr>
      </p:sp>
      <p:sp>
        <p:nvSpPr>
          <p:cNvPr id="23" name="Text 21"/>
          <p:cNvSpPr/>
          <p:nvPr/>
        </p:nvSpPr>
        <p:spPr>
          <a:xfrm>
            <a:off x="7543800" y="1188720"/>
            <a:ext cx="12801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混合策略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543800" y="274320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B4D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生产级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B4D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简单 ───────────────────────────────&gt; 复杂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策略对比详情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37160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graphicFrame>
        <p:nvGraphicFramePr>
          <p:cNvPr id="20" name="Table 0"/>
          <p:cNvGraphicFramePr>
            <a:graphicFrameLocks noGrp="1"/>
          </p:cNvGraphicFramePr>
          <p:nvPr/>
        </p:nvGraphicFramePr>
        <p:xfrm>
          <a:off x="457200" y="1097280"/>
          <a:ext cx="8229600" cy="3474723"/>
        </p:xfrm>
        <a:graphic>
          <a:graphicData uri="http://schemas.openxmlformats.org/drawingml/2006/table">
            <a:tbl>
              <a:tblPr/>
              <a:tblGrid>
                <a:gridCol w="1828800"/>
                <a:gridCol w="3200400"/>
                <a:gridCol w="3200400"/>
              </a:tblGrid>
              <a:tr h="4963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策略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核心做法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关键权衡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D9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直接截断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删除开头或结尾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速度快 → 极易丢失关键信息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A6E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滑动窗口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只保留最近 N 轮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保持新鲜度 → 丢失早期目标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50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中间截断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保留首尾、删中间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利用首尾敏感性 → 可能错过转折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A6E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智能摘要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LLM 压缩旧对话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信息密度高 → 增加延迟和成本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50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分层记忆+RAG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近期完整 + 远期检索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支持超长记忆 → 架构复杂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A6E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混合策略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组合上述方法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灵活适应 → 配置成本高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5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核心原则：保关键、去冗余、可追溯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37160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Prompt 必须保留</a:t>
            </a:r>
            <a:endParaRPr lang="en-US" sz="1600" dirty="0"/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当前 query 和上一轮回复必须完整</a:t>
            </a:r>
            <a:endParaRPr lang="en-US" sz="1600" dirty="0"/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工具调用的关键参数/结果精简而非全删</a:t>
            </a:r>
            <a:endParaRPr lang="en-US" sz="1600" dirty="0"/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记录裁剪日志用于审计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283A6E">
              <a:alpha val="60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4A90D9">
              <a:alpha val="25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457200" y="457200"/>
            <a:ext cx="91440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0" b="1" dirty="0">
                <a:solidFill>
                  <a:srgbClr val="F9B233">
                    <a:alpha val="60000"/>
                  </a:srgb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“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680960" cy="182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上下文超限不是"能不能发"的问题，</a:t>
            </a:r>
            <a:endParaRPr lang="en-US" sz="22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而是"怎么聪明地发"的问题。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A0B4D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从"粗暴截断"到"分层记忆"，策略的演进反映了 Agent 从"玩具"走向"产品"的成熟之路。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9B233"/>
          </a:solidFill>
        </p:spPr>
      </p:sp>
      <p:sp>
        <p:nvSpPr>
          <p:cNvPr id="3" name="Text 1"/>
          <p:cNvSpPr/>
          <p:nvPr/>
        </p:nvSpPr>
        <p:spPr>
          <a:xfrm>
            <a:off x="457200" y="731520"/>
            <a:ext cx="2286000" cy="182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0" b="1" dirty="0">
                <a:solidFill>
                  <a:srgbClr val="4A90D9">
                    <a:alpha val="70000"/>
                  </a:srgb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548640" y="301752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A0B4D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第四章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0" y="1828800"/>
            <a:ext cx="59436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多轮对话历史与 Memory 系统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2743200" y="3017520"/>
            <a:ext cx="1828800" cy="0"/>
          </a:xfrm>
          <a:prstGeom prst="line">
            <a:avLst/>
          </a:prstGeom>
          <a:noFill/>
          <a:ln w="38100">
            <a:solidFill>
              <a:srgbClr val="F9B233"/>
            </a:solidFill>
            <a:prstDash val="solid"/>
          </a:ln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对话历史的基本存储结构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37160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97280"/>
            <a:ext cx="8229600" cy="2926080"/>
          </a:xfrm>
          <a:prstGeom prst="rect">
            <a:avLst/>
          </a:prstGeom>
          <a:solidFill>
            <a:srgbClr val="1A2550"/>
          </a:solidFill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234440"/>
            <a:ext cx="7863840" cy="2743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6BB3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6BB3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{"role": "system", "content": "你是一个客服助手..."},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6BB3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{"role": "user", "content": "我想查订单状态"},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6BB3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{"role": "assistant", "content": "请提供订单号", "tool_calls": [...]},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6BB3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{"role": "user", "content": "订单号是 #12345"},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6BB3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{"role": "assistant", "content": "订单已发货，预计明天到达"}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6BB3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]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A0B4D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以消息列表形式存储，每条消息包含 role、content、时间戳等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四大历史管理策略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37160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graphicFrame>
        <p:nvGraphicFramePr>
          <p:cNvPr id="25" name="Table 0"/>
          <p:cNvGraphicFramePr>
            <a:graphicFrameLocks noGrp="1"/>
          </p:cNvGraphicFramePr>
          <p:nvPr/>
        </p:nvGraphicFramePr>
        <p:xfrm>
          <a:off x="457200" y="1097280"/>
          <a:ext cx="8229600" cy="3474720"/>
        </p:xfrm>
        <a:graphic>
          <a:graphicData uri="http://schemas.openxmlformats.org/drawingml/2006/table">
            <a:tbl>
              <a:tblPr/>
              <a:tblGrid>
                <a:gridCol w="1828800"/>
                <a:gridCol w="3200400"/>
                <a:gridCol w="3200400"/>
              </a:tblGrid>
              <a:tr h="6949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策略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做法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适用场景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D9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滑动窗口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保留最近 N 轮 + 第一轮目标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日常连续对话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A6E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摘要压缩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多轮后生成摘要替代原始文本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长对话、token 紧张时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50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分层记忆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短期 + 中期(向量库) + 长期(数据库)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企业级 Agent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A6E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重要性过滤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对消息打分，优先保留高价值内容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需要精细控制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5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Memory 的本质：不只是"记住"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137160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45920"/>
            <a:ext cx="2194560" cy="1097280"/>
          </a:xfrm>
          <a:prstGeom prst="rect">
            <a:avLst/>
          </a:prstGeom>
          <a:solidFill>
            <a:srgbClr val="4A90D9"/>
          </a:solidFill>
        </p:spPr>
      </p:sp>
      <p:sp>
        <p:nvSpPr>
          <p:cNvPr id="6" name="Text 4"/>
          <p:cNvSpPr/>
          <p:nvPr/>
        </p:nvSpPr>
        <p:spPr>
          <a:xfrm>
            <a:off x="731520" y="1645920"/>
            <a:ext cx="219456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筛选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挑出有价值的信息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926080" y="2194560"/>
            <a:ext cx="54864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566160" y="1645920"/>
            <a:ext cx="2194560" cy="1097280"/>
          </a:xfrm>
          <a:prstGeom prst="rect">
            <a:avLst/>
          </a:prstGeom>
          <a:solidFill>
            <a:srgbClr val="2E4080"/>
          </a:solidFill>
        </p:spPr>
      </p:sp>
      <p:sp>
        <p:nvSpPr>
          <p:cNvPr id="9" name="Text 7"/>
          <p:cNvSpPr/>
          <p:nvPr/>
        </p:nvSpPr>
        <p:spPr>
          <a:xfrm>
            <a:off x="3566160" y="1645920"/>
            <a:ext cx="219456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组织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结构化存储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760720" y="2194560"/>
            <a:ext cx="54864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0" y="1645920"/>
            <a:ext cx="2194560" cy="1097280"/>
          </a:xfrm>
          <a:prstGeom prst="rect">
            <a:avLst/>
          </a:prstGeom>
          <a:solidFill>
            <a:srgbClr val="2D7A4F"/>
          </a:solidFill>
        </p:spPr>
      </p:sp>
      <p:sp>
        <p:nvSpPr>
          <p:cNvPr id="12" name="Text 10"/>
          <p:cNvSpPr/>
          <p:nvPr/>
        </p:nvSpPr>
        <p:spPr>
          <a:xfrm>
            <a:off x="6400800" y="1645920"/>
            <a:ext cx="219456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调度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适时注入上下文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Memory ≠ 数据库，而是一种策略性抽象层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A0B4D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不是所有历史都值得记住，也不是所有记忆都适合直接喂给模型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三种 Memory 范式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37160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graphicFrame>
        <p:nvGraphicFramePr>
          <p:cNvPr id="27" name="Table 0"/>
          <p:cNvGraphicFramePr>
            <a:graphicFrameLocks noGrp="1"/>
          </p:cNvGraphicFramePr>
          <p:nvPr/>
        </p:nvGraphicFramePr>
        <p:xfrm>
          <a:off x="457200" y="1097280"/>
          <a:ext cx="8229600" cy="3474720"/>
        </p:xfrm>
        <a:graphic>
          <a:graphicData uri="http://schemas.openxmlformats.org/drawingml/2006/table">
            <a:tbl>
              <a:tblPr/>
              <a:tblGrid>
                <a:gridCol w="1371600"/>
                <a:gridCol w="2286000"/>
                <a:gridCol w="2286000"/>
                <a:gridCol w="2286000"/>
              </a:tblGrid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范式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定义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典型实现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决策要点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D9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短期记忆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最近 N 轮原样保留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滑动窗口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简单但受窗口限制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A6E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长期记忆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持久化存储，跨会话检索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向量检索/结构化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支持个性化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50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极致推理型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LLM 实时摘要/状态建模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对话摘要/状态机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防误差传播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A6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Memory 越多越好吗？—— 否！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137160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1097280"/>
            <a:ext cx="6400800" cy="640080"/>
          </a:xfrm>
          <a:prstGeom prst="rect">
            <a:avLst/>
          </a:prstGeom>
          <a:solidFill>
            <a:srgbClr val="1A2550"/>
          </a:solidFill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71600" y="1097280"/>
            <a:ext cx="6400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9B23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Memory 价值 = 信息密度 × 相关性 × 时效性 ÷ 噪声水平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2103120"/>
            <a:ext cx="2377440" cy="548640"/>
          </a:xfrm>
          <a:prstGeom prst="rect">
            <a:avLst/>
          </a:prstGeom>
          <a:solidFill>
            <a:srgbClr val="B85042"/>
          </a:solidFill>
        </p:spPr>
      </p:sp>
      <p:sp>
        <p:nvSpPr>
          <p:cNvPr id="8" name="Text 6"/>
          <p:cNvSpPr/>
          <p:nvPr/>
        </p:nvSpPr>
        <p:spPr>
          <a:xfrm>
            <a:off x="914400" y="2103120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注意力稀释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2743200"/>
            <a:ext cx="23774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B4D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无关内容拉低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0B4D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关键信息权重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0" y="2103120"/>
            <a:ext cx="2377440" cy="548640"/>
          </a:xfrm>
          <a:prstGeom prst="rect">
            <a:avLst/>
          </a:prstGeom>
          <a:solidFill>
            <a:srgbClr val="B85042"/>
          </a:solidFill>
        </p:spPr>
      </p:sp>
      <p:sp>
        <p:nvSpPr>
          <p:cNvPr id="11" name="Text 9"/>
          <p:cNvSpPr/>
          <p:nvPr/>
        </p:nvSpPr>
        <p:spPr>
          <a:xfrm>
            <a:off x="3657600" y="2103120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上下文污染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0" y="2743200"/>
            <a:ext cx="23774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B4D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过时/矛盾信息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0B4D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误导模型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0" y="2103120"/>
            <a:ext cx="2377440" cy="548640"/>
          </a:xfrm>
          <a:prstGeom prst="rect">
            <a:avLst/>
          </a:prstGeom>
          <a:solidFill>
            <a:srgbClr val="B85042"/>
          </a:solidFill>
        </p:spPr>
      </p:sp>
      <p:sp>
        <p:nvSpPr>
          <p:cNvPr id="14" name="Text 12"/>
          <p:cNvSpPr/>
          <p:nvPr/>
        </p:nvSpPr>
        <p:spPr>
          <a:xfrm>
            <a:off x="6400800" y="2103120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成本与隐私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0" y="2743200"/>
            <a:ext cx="23774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B4D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token 费用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0B4D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合规风险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i="1" dirty="0">
                <a:solidFill>
                  <a:srgbClr val="F9B2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真正的智能，在于知道该忘什么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9B233"/>
          </a:solidFill>
        </p:spPr>
      </p:sp>
      <p:sp>
        <p:nvSpPr>
          <p:cNvPr id="3" name="Text 1"/>
          <p:cNvSpPr/>
          <p:nvPr/>
        </p:nvSpPr>
        <p:spPr>
          <a:xfrm>
            <a:off x="457200" y="731520"/>
            <a:ext cx="2286000" cy="182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0" b="1" dirty="0">
                <a:solidFill>
                  <a:srgbClr val="4A90D9">
                    <a:alpha val="70000"/>
                  </a:srgb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548640" y="301752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A0B4D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第五章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0" y="1828800"/>
            <a:ext cx="59436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外部知识注入 — </a:t>
            </a:r>
            <a:endParaRPr lang="en-US" sz="34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突破 LLM 的知识边界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2743200" y="3017520"/>
            <a:ext cx="1828800" cy="0"/>
          </a:xfrm>
          <a:prstGeom prst="line">
            <a:avLst/>
          </a:prstGeom>
          <a:noFill/>
          <a:ln w="38100">
            <a:solidFill>
              <a:srgbClr val="F9B233"/>
            </a:solidFill>
            <a:prstDash val="solid"/>
          </a:ln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为什么需要外部知识？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37160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LLM 知识来自训练数据，存在截止日期和私有知识盲区</a:t>
            </a:r>
            <a:endParaRPr lang="en-US" sz="1600" dirty="0"/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解决方案本质：在调用 LLM 前，将所需知识检索出来，注入上下文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注入流程统一模型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137160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2011680"/>
            <a:ext cx="1234440" cy="731520"/>
          </a:xfrm>
          <a:prstGeom prst="rect">
            <a:avLst/>
          </a:prstGeom>
          <a:solidFill>
            <a:srgbClr val="F9B233"/>
          </a:solidFill>
        </p:spPr>
      </p:sp>
      <p:sp>
        <p:nvSpPr>
          <p:cNvPr id="6" name="Text 4"/>
          <p:cNvSpPr/>
          <p:nvPr/>
        </p:nvSpPr>
        <p:spPr>
          <a:xfrm>
            <a:off x="274320" y="2011680"/>
            <a:ext cx="12344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用户提问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508760" y="2377440"/>
            <a:ext cx="18288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91640" y="2011680"/>
            <a:ext cx="1234440" cy="731520"/>
          </a:xfrm>
          <a:prstGeom prst="rect">
            <a:avLst/>
          </a:prstGeom>
          <a:solidFill>
            <a:srgbClr val="2E4080"/>
          </a:solidFill>
        </p:spPr>
      </p:sp>
      <p:sp>
        <p:nvSpPr>
          <p:cNvPr id="9" name="Text 7"/>
          <p:cNvSpPr/>
          <p:nvPr/>
        </p:nvSpPr>
        <p:spPr>
          <a:xfrm>
            <a:off x="1691640" y="2011680"/>
            <a:ext cx="12344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知识检索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926080" y="2377440"/>
            <a:ext cx="18288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08960" y="2011680"/>
            <a:ext cx="1234440" cy="731520"/>
          </a:xfrm>
          <a:prstGeom prst="rect">
            <a:avLst/>
          </a:prstGeom>
          <a:solidFill>
            <a:srgbClr val="283A6E"/>
          </a:solidFill>
        </p:spPr>
      </p:sp>
      <p:sp>
        <p:nvSpPr>
          <p:cNvPr id="12" name="Text 10"/>
          <p:cNvSpPr/>
          <p:nvPr/>
        </p:nvSpPr>
        <p:spPr>
          <a:xfrm>
            <a:off x="3108960" y="2011680"/>
            <a:ext cx="12344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内容筛选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43400" y="2377440"/>
            <a:ext cx="18288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26280" y="2011680"/>
            <a:ext cx="1234440" cy="731520"/>
          </a:xfrm>
          <a:prstGeom prst="rect">
            <a:avLst/>
          </a:prstGeom>
          <a:solidFill>
            <a:srgbClr val="4A90D9"/>
          </a:solidFill>
        </p:spPr>
      </p:sp>
      <p:sp>
        <p:nvSpPr>
          <p:cNvPr id="15" name="Text 13"/>
          <p:cNvSpPr/>
          <p:nvPr/>
        </p:nvSpPr>
        <p:spPr>
          <a:xfrm>
            <a:off x="4526280" y="2011680"/>
            <a:ext cx="12344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注入上下文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760720" y="2377440"/>
            <a:ext cx="18288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0" y="2011680"/>
            <a:ext cx="1234440" cy="731520"/>
          </a:xfrm>
          <a:prstGeom prst="rect">
            <a:avLst/>
          </a:prstGeom>
          <a:solidFill>
            <a:srgbClr val="2D7A4F"/>
          </a:solidFill>
        </p:spPr>
      </p:sp>
      <p:sp>
        <p:nvSpPr>
          <p:cNvPr id="18" name="Text 16"/>
          <p:cNvSpPr/>
          <p:nvPr/>
        </p:nvSpPr>
        <p:spPr>
          <a:xfrm>
            <a:off x="5943600" y="2011680"/>
            <a:ext cx="12344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调用 LLM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178040" y="2377440"/>
            <a:ext cx="18288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60920" y="2011680"/>
            <a:ext cx="1234440" cy="731520"/>
          </a:xfrm>
          <a:prstGeom prst="rect">
            <a:avLst/>
          </a:prstGeom>
          <a:solidFill>
            <a:srgbClr val="F9B233"/>
          </a:solidFill>
        </p:spPr>
      </p:sp>
      <p:sp>
        <p:nvSpPr>
          <p:cNvPr id="21" name="Text 19"/>
          <p:cNvSpPr/>
          <p:nvPr/>
        </p:nvSpPr>
        <p:spPr>
          <a:xfrm>
            <a:off x="7360920" y="2011680"/>
            <a:ext cx="12344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生成答案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A0B4D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差异仅在于"用什么技术检索、知识以什么形态存储"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六大技术手段一览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37160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graphicFrame>
        <p:nvGraphicFramePr>
          <p:cNvPr id="32" name="Table 0"/>
          <p:cNvGraphicFramePr>
            <a:graphicFrameLocks noGrp="1"/>
          </p:cNvGraphicFramePr>
          <p:nvPr/>
        </p:nvGraphicFramePr>
        <p:xfrm>
          <a:off x="457200" y="1097280"/>
          <a:ext cx="8229600" cy="3474723"/>
        </p:xfrm>
        <a:graphic>
          <a:graphicData uri="http://schemas.openxmlformats.org/drawingml/2006/table">
            <a:tbl>
              <a:tblPr/>
              <a:tblGrid>
                <a:gridCol w="2011680"/>
                <a:gridCol w="2011680"/>
                <a:gridCol w="2011680"/>
                <a:gridCol w="2194560"/>
              </a:tblGrid>
              <a:tr h="4963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技术手段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知识形态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查询方式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典型场景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D9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RAG（向量检索）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文本片段 + 向量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语义相似度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文档问答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A6E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知识图谱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实体+关系（图）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图遍历/Cypher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多跳推理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50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Wiki/结构化文档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层级化文章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关键词搜索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产品手册、FAQ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A6E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Text-to-SQL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表格数据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SQL 查询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业务数据、报表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50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实时 API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外部服务实时数据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HTTP 调用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天气、股价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A6E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代码仓库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源代码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文件+语义搜索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代码问答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5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技术选型决策树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137160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465070" y="1261745"/>
            <a:ext cx="3200400" cy="548640"/>
          </a:xfrm>
          <a:prstGeom prst="rect">
            <a:avLst/>
          </a:prstGeom>
          <a:solidFill>
            <a:srgbClr val="4A90D9"/>
          </a:solidFill>
        </p:spPr>
      </p:sp>
      <p:sp>
        <p:nvSpPr>
          <p:cNvPr id="6" name="Text 4"/>
          <p:cNvSpPr/>
          <p:nvPr/>
        </p:nvSpPr>
        <p:spPr>
          <a:xfrm>
            <a:off x="2465070" y="1261745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知识是结构化的吗？</a:t>
            </a:r>
            <a:endParaRPr lang="en-US" sz="1200" dirty="0"/>
          </a:p>
        </p:txBody>
      </p:sp>
      <p:sp>
        <p:nvSpPr>
          <p:cNvPr id="7" name="Shape 5"/>
          <p:cNvSpPr/>
          <p:nvPr>
            <p:custDataLst>
              <p:tags r:id="rId1"/>
            </p:custDataLst>
          </p:nvPr>
        </p:nvSpPr>
        <p:spPr>
          <a:xfrm>
            <a:off x="3002280" y="1810385"/>
            <a:ext cx="0" cy="365760"/>
          </a:xfrm>
          <a:prstGeom prst="line">
            <a:avLst/>
          </a:prstGeom>
          <a:noFill/>
          <a:ln w="19050">
            <a:solidFill>
              <a:srgbClr val="6BB3F0"/>
            </a:solidFill>
            <a:prstDash val="solid"/>
          </a:ln>
        </p:spPr>
      </p:sp>
      <p:sp>
        <p:nvSpPr>
          <p:cNvPr id="8" name="Text 6"/>
          <p:cNvSpPr/>
          <p:nvPr>
            <p:custDataLst>
              <p:tags r:id="rId2"/>
            </p:custDataLst>
          </p:nvPr>
        </p:nvSpPr>
        <p:spPr>
          <a:xfrm>
            <a:off x="2545080" y="1901825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B3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是</a:t>
            </a:r>
            <a:endParaRPr lang="en-US" sz="1000" dirty="0"/>
          </a:p>
        </p:txBody>
      </p:sp>
      <p:sp>
        <p:nvSpPr>
          <p:cNvPr id="9" name="Shape 7"/>
          <p:cNvSpPr/>
          <p:nvPr>
            <p:custDataLst>
              <p:tags r:id="rId3"/>
            </p:custDataLst>
          </p:nvPr>
        </p:nvSpPr>
        <p:spPr>
          <a:xfrm>
            <a:off x="1173480" y="2221865"/>
            <a:ext cx="2743200" cy="502920"/>
          </a:xfrm>
          <a:prstGeom prst="rect">
            <a:avLst/>
          </a:prstGeom>
          <a:solidFill>
            <a:srgbClr val="2E4080"/>
          </a:solidFill>
        </p:spPr>
      </p:sp>
      <p:sp>
        <p:nvSpPr>
          <p:cNvPr id="10" name="Text 8"/>
          <p:cNvSpPr/>
          <p:nvPr>
            <p:custDataLst>
              <p:tags r:id="rId4"/>
            </p:custDataLst>
          </p:nvPr>
        </p:nvSpPr>
        <p:spPr>
          <a:xfrm>
            <a:off x="1173480" y="2221865"/>
            <a:ext cx="2743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需要关系推理吗？</a:t>
            </a:r>
            <a:endParaRPr lang="en-US" sz="1100" dirty="0"/>
          </a:p>
        </p:txBody>
      </p:sp>
      <p:sp>
        <p:nvSpPr>
          <p:cNvPr id="11" name="Shape 9"/>
          <p:cNvSpPr/>
          <p:nvPr>
            <p:custDataLst>
              <p:tags r:id="rId5"/>
            </p:custDataLst>
          </p:nvPr>
        </p:nvSpPr>
        <p:spPr>
          <a:xfrm>
            <a:off x="1813560" y="2724785"/>
            <a:ext cx="0" cy="320040"/>
          </a:xfrm>
          <a:prstGeom prst="line">
            <a:avLst/>
          </a:prstGeom>
          <a:noFill/>
          <a:ln w="19050">
            <a:solidFill>
              <a:srgbClr val="6BB3F0"/>
            </a:solidFill>
            <a:prstDash val="solid"/>
          </a:ln>
        </p:spPr>
      </p:sp>
      <p:sp>
        <p:nvSpPr>
          <p:cNvPr id="12" name="Text 10"/>
          <p:cNvSpPr/>
          <p:nvPr>
            <p:custDataLst>
              <p:tags r:id="rId6"/>
            </p:custDataLst>
          </p:nvPr>
        </p:nvSpPr>
        <p:spPr>
          <a:xfrm>
            <a:off x="1356360" y="2770505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B3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是</a:t>
            </a:r>
            <a:endParaRPr lang="en-US" sz="1000" dirty="0"/>
          </a:p>
        </p:txBody>
      </p:sp>
      <p:grpSp>
        <p:nvGrpSpPr>
          <p:cNvPr id="40" name="组合 39"/>
          <p:cNvGrpSpPr/>
          <p:nvPr>
            <p:custDataLst>
              <p:tags r:id="rId7"/>
            </p:custDataLst>
          </p:nvPr>
        </p:nvGrpSpPr>
        <p:grpSpPr>
          <a:xfrm>
            <a:off x="1173480" y="3136265"/>
            <a:ext cx="1268730" cy="457200"/>
            <a:chOff x="1728" y="4176"/>
            <a:chExt cx="2086" cy="720"/>
          </a:xfrm>
        </p:grpSpPr>
        <p:sp>
          <p:nvSpPr>
            <p:cNvPr id="13" name="Shape 11"/>
            <p:cNvSpPr/>
            <p:nvPr>
              <p:custDataLst>
                <p:tags r:id="rId8"/>
              </p:custDataLst>
            </p:nvPr>
          </p:nvSpPr>
          <p:spPr>
            <a:xfrm>
              <a:off x="1728" y="4176"/>
              <a:ext cx="2085" cy="720"/>
            </a:xfrm>
            <a:prstGeom prst="rect">
              <a:avLst/>
            </a:prstGeom>
            <a:solidFill>
              <a:srgbClr val="2D7A4F"/>
            </a:solidFill>
          </p:spPr>
        </p:sp>
        <p:sp>
          <p:nvSpPr>
            <p:cNvPr id="14" name="Text 12"/>
            <p:cNvSpPr/>
            <p:nvPr>
              <p:custDataLst>
                <p:tags r:id="rId9"/>
              </p:custDataLst>
            </p:nvPr>
          </p:nvSpPr>
          <p:spPr>
            <a:xfrm>
              <a:off x="1728" y="4176"/>
              <a:ext cx="2086" cy="72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知识图谱</a:t>
              </a:r>
              <a:endParaRPr lang="en-US" sz="1100" dirty="0"/>
            </a:p>
          </p:txBody>
        </p:sp>
      </p:grpSp>
      <p:sp>
        <p:nvSpPr>
          <p:cNvPr id="15" name="Shape 13"/>
          <p:cNvSpPr/>
          <p:nvPr>
            <p:custDataLst>
              <p:tags r:id="rId10"/>
            </p:custDataLst>
          </p:nvPr>
        </p:nvSpPr>
        <p:spPr>
          <a:xfrm>
            <a:off x="3276600" y="2724785"/>
            <a:ext cx="0" cy="320040"/>
          </a:xfrm>
          <a:prstGeom prst="line">
            <a:avLst/>
          </a:prstGeom>
          <a:noFill/>
          <a:ln w="19050">
            <a:solidFill>
              <a:srgbClr val="6BB3F0"/>
            </a:solidFill>
            <a:prstDash val="solid"/>
          </a:ln>
        </p:spPr>
      </p:sp>
      <p:sp>
        <p:nvSpPr>
          <p:cNvPr id="16" name="Text 14"/>
          <p:cNvSpPr/>
          <p:nvPr>
            <p:custDataLst>
              <p:tags r:id="rId11"/>
            </p:custDataLst>
          </p:nvPr>
        </p:nvSpPr>
        <p:spPr>
          <a:xfrm>
            <a:off x="2856230" y="2770505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B3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否</a:t>
            </a:r>
            <a:endParaRPr lang="en-US" sz="1000" dirty="0"/>
          </a:p>
        </p:txBody>
      </p:sp>
      <p:grpSp>
        <p:nvGrpSpPr>
          <p:cNvPr id="39" name="组合 38"/>
          <p:cNvGrpSpPr/>
          <p:nvPr>
            <p:custDataLst>
              <p:tags r:id="rId12"/>
            </p:custDataLst>
          </p:nvPr>
        </p:nvGrpSpPr>
        <p:grpSpPr>
          <a:xfrm>
            <a:off x="2727960" y="3136265"/>
            <a:ext cx="1188720" cy="457200"/>
            <a:chOff x="4608" y="4176"/>
            <a:chExt cx="1706" cy="720"/>
          </a:xfrm>
        </p:grpSpPr>
        <p:sp>
          <p:nvSpPr>
            <p:cNvPr id="17" name="Shape 15"/>
            <p:cNvSpPr/>
            <p:nvPr>
              <p:custDataLst>
                <p:tags r:id="rId13"/>
              </p:custDataLst>
            </p:nvPr>
          </p:nvSpPr>
          <p:spPr>
            <a:xfrm>
              <a:off x="4608" y="4176"/>
              <a:ext cx="1707" cy="720"/>
            </a:xfrm>
            <a:prstGeom prst="rect">
              <a:avLst/>
            </a:prstGeom>
            <a:solidFill>
              <a:srgbClr val="2D7A4F"/>
            </a:solidFill>
          </p:spPr>
        </p:sp>
        <p:sp>
          <p:nvSpPr>
            <p:cNvPr id="18" name="Text 16"/>
            <p:cNvSpPr/>
            <p:nvPr>
              <p:custDataLst>
                <p:tags r:id="rId14"/>
              </p:custDataLst>
            </p:nvPr>
          </p:nvSpPr>
          <p:spPr>
            <a:xfrm>
              <a:off x="4608" y="4176"/>
              <a:ext cx="1707" cy="72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Text</a:t>
              </a:r>
              <a:endParaRPr lang="en-US" sz="1100" dirty="0"/>
            </a:p>
          </p:txBody>
        </p:sp>
      </p:grpSp>
      <p:sp>
        <p:nvSpPr>
          <p:cNvPr id="19" name="Shape 17"/>
          <p:cNvSpPr/>
          <p:nvPr>
            <p:custDataLst>
              <p:tags r:id="rId15"/>
            </p:custDataLst>
          </p:nvPr>
        </p:nvSpPr>
        <p:spPr>
          <a:xfrm>
            <a:off x="5114290" y="1810385"/>
            <a:ext cx="0" cy="365760"/>
          </a:xfrm>
          <a:prstGeom prst="line">
            <a:avLst/>
          </a:prstGeom>
          <a:noFill/>
          <a:ln w="19050">
            <a:solidFill>
              <a:srgbClr val="6BB3F0"/>
            </a:solidFill>
            <a:prstDash val="solid"/>
          </a:ln>
        </p:spPr>
      </p:sp>
      <p:sp>
        <p:nvSpPr>
          <p:cNvPr id="20" name="Text 18"/>
          <p:cNvSpPr/>
          <p:nvPr>
            <p:custDataLst>
              <p:tags r:id="rId16"/>
            </p:custDataLst>
          </p:nvPr>
        </p:nvSpPr>
        <p:spPr>
          <a:xfrm>
            <a:off x="4706620" y="1901825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B3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否</a:t>
            </a:r>
            <a:endParaRPr lang="en-US" sz="1000" dirty="0"/>
          </a:p>
        </p:txBody>
      </p:sp>
      <p:sp>
        <p:nvSpPr>
          <p:cNvPr id="21" name="Shape 19"/>
          <p:cNvSpPr/>
          <p:nvPr>
            <p:custDataLst>
              <p:tags r:id="rId17"/>
            </p:custDataLst>
          </p:nvPr>
        </p:nvSpPr>
        <p:spPr>
          <a:xfrm>
            <a:off x="4657090" y="2221865"/>
            <a:ext cx="2743200" cy="502920"/>
          </a:xfrm>
          <a:prstGeom prst="rect">
            <a:avLst/>
          </a:prstGeom>
          <a:solidFill>
            <a:srgbClr val="2E4080"/>
          </a:solidFill>
        </p:spPr>
      </p:sp>
      <p:sp>
        <p:nvSpPr>
          <p:cNvPr id="22" name="Text 20"/>
          <p:cNvSpPr/>
          <p:nvPr>
            <p:custDataLst>
              <p:tags r:id="rId18"/>
            </p:custDataLst>
          </p:nvPr>
        </p:nvSpPr>
        <p:spPr>
          <a:xfrm>
            <a:off x="4657090" y="2221865"/>
            <a:ext cx="2743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数据是实时的吗？</a:t>
            </a:r>
            <a:endParaRPr lang="en-US" sz="1100" dirty="0"/>
          </a:p>
        </p:txBody>
      </p:sp>
      <p:sp>
        <p:nvSpPr>
          <p:cNvPr id="23" name="Shape 21"/>
          <p:cNvSpPr/>
          <p:nvPr>
            <p:custDataLst>
              <p:tags r:id="rId19"/>
            </p:custDataLst>
          </p:nvPr>
        </p:nvSpPr>
        <p:spPr>
          <a:xfrm>
            <a:off x="5297170" y="2724785"/>
            <a:ext cx="0" cy="320040"/>
          </a:xfrm>
          <a:prstGeom prst="line">
            <a:avLst/>
          </a:prstGeom>
          <a:noFill/>
          <a:ln w="19050">
            <a:solidFill>
              <a:srgbClr val="6BB3F0"/>
            </a:solidFill>
            <a:prstDash val="solid"/>
          </a:ln>
        </p:spPr>
      </p:sp>
      <p:sp>
        <p:nvSpPr>
          <p:cNvPr id="24" name="Text 22"/>
          <p:cNvSpPr/>
          <p:nvPr>
            <p:custDataLst>
              <p:tags r:id="rId20"/>
            </p:custDataLst>
          </p:nvPr>
        </p:nvSpPr>
        <p:spPr>
          <a:xfrm>
            <a:off x="4839970" y="2770505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B3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是</a:t>
            </a:r>
            <a:endParaRPr lang="en-US" sz="1000" dirty="0"/>
          </a:p>
        </p:txBody>
      </p:sp>
      <p:sp>
        <p:nvSpPr>
          <p:cNvPr id="25" name="Shape 23"/>
          <p:cNvSpPr/>
          <p:nvPr>
            <p:custDataLst>
              <p:tags r:id="rId21"/>
            </p:custDataLst>
          </p:nvPr>
        </p:nvSpPr>
        <p:spPr>
          <a:xfrm>
            <a:off x="4657090" y="3090545"/>
            <a:ext cx="1315720" cy="457200"/>
          </a:xfrm>
          <a:prstGeom prst="rect">
            <a:avLst/>
          </a:prstGeom>
          <a:solidFill>
            <a:srgbClr val="2D7A4F"/>
          </a:solidFill>
        </p:spPr>
      </p:sp>
      <p:sp>
        <p:nvSpPr>
          <p:cNvPr id="26" name="Text 24"/>
          <p:cNvSpPr/>
          <p:nvPr>
            <p:custDataLst>
              <p:tags r:id="rId22"/>
            </p:custDataLst>
          </p:nvPr>
        </p:nvSpPr>
        <p:spPr>
          <a:xfrm>
            <a:off x="4657090" y="3090545"/>
            <a:ext cx="129349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实时 API</a:t>
            </a:r>
            <a:endParaRPr lang="en-US" sz="1100" dirty="0"/>
          </a:p>
        </p:txBody>
      </p:sp>
      <p:sp>
        <p:nvSpPr>
          <p:cNvPr id="27" name="Shape 25"/>
          <p:cNvSpPr/>
          <p:nvPr>
            <p:custDataLst>
              <p:tags r:id="rId23"/>
            </p:custDataLst>
          </p:nvPr>
        </p:nvSpPr>
        <p:spPr>
          <a:xfrm>
            <a:off x="6943090" y="2724785"/>
            <a:ext cx="0" cy="320040"/>
          </a:xfrm>
          <a:prstGeom prst="line">
            <a:avLst/>
          </a:prstGeom>
          <a:noFill/>
          <a:ln w="19050">
            <a:solidFill>
              <a:srgbClr val="6BB3F0"/>
            </a:solidFill>
            <a:prstDash val="solid"/>
          </a:ln>
        </p:spPr>
      </p:sp>
      <p:sp>
        <p:nvSpPr>
          <p:cNvPr id="28" name="Text 26"/>
          <p:cNvSpPr/>
          <p:nvPr>
            <p:custDataLst>
              <p:tags r:id="rId24"/>
            </p:custDataLst>
          </p:nvPr>
        </p:nvSpPr>
        <p:spPr>
          <a:xfrm>
            <a:off x="6522720" y="2770505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B3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否</a:t>
            </a:r>
            <a:endParaRPr lang="en-US" sz="1000" dirty="0"/>
          </a:p>
        </p:txBody>
      </p:sp>
      <p:sp>
        <p:nvSpPr>
          <p:cNvPr id="29" name="Shape 27"/>
          <p:cNvSpPr/>
          <p:nvPr>
            <p:custDataLst>
              <p:tags r:id="rId25"/>
            </p:custDataLst>
          </p:nvPr>
        </p:nvSpPr>
        <p:spPr>
          <a:xfrm>
            <a:off x="6125210" y="3090545"/>
            <a:ext cx="2189480" cy="460375"/>
          </a:xfrm>
          <a:prstGeom prst="rect">
            <a:avLst/>
          </a:prstGeom>
          <a:solidFill>
            <a:srgbClr val="283A6E"/>
          </a:solidFill>
        </p:spPr>
      </p:sp>
      <p:sp>
        <p:nvSpPr>
          <p:cNvPr id="30" name="Text 28"/>
          <p:cNvSpPr/>
          <p:nvPr>
            <p:custDataLst>
              <p:tags r:id="rId26"/>
            </p:custDataLst>
          </p:nvPr>
        </p:nvSpPr>
        <p:spPr>
          <a:xfrm>
            <a:off x="6142355" y="3090545"/>
            <a:ext cx="2172335" cy="4540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有人工层级结构吗？</a:t>
            </a:r>
            <a:endParaRPr lang="en-US" sz="1100" dirty="0"/>
          </a:p>
        </p:txBody>
      </p:sp>
      <p:sp>
        <p:nvSpPr>
          <p:cNvPr id="31" name="Shape 29"/>
          <p:cNvSpPr/>
          <p:nvPr>
            <p:custDataLst>
              <p:tags r:id="rId27"/>
            </p:custDataLst>
          </p:nvPr>
        </p:nvSpPr>
        <p:spPr>
          <a:xfrm>
            <a:off x="6782435" y="3551555"/>
            <a:ext cx="0" cy="320040"/>
          </a:xfrm>
          <a:prstGeom prst="line">
            <a:avLst/>
          </a:prstGeom>
          <a:noFill/>
          <a:ln w="19050">
            <a:solidFill>
              <a:srgbClr val="6BB3F0"/>
            </a:solidFill>
            <a:prstDash val="solid"/>
          </a:ln>
        </p:spPr>
      </p:sp>
      <p:sp>
        <p:nvSpPr>
          <p:cNvPr id="32" name="Text 30"/>
          <p:cNvSpPr/>
          <p:nvPr>
            <p:custDataLst>
              <p:tags r:id="rId28"/>
            </p:custDataLst>
          </p:nvPr>
        </p:nvSpPr>
        <p:spPr>
          <a:xfrm>
            <a:off x="6370955" y="3642995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B3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是</a:t>
            </a:r>
            <a:endParaRPr lang="en-US" sz="1000" dirty="0"/>
          </a:p>
        </p:txBody>
      </p:sp>
      <p:sp>
        <p:nvSpPr>
          <p:cNvPr id="33" name="Shape 31"/>
          <p:cNvSpPr/>
          <p:nvPr>
            <p:custDataLst>
              <p:tags r:id="rId29"/>
            </p:custDataLst>
          </p:nvPr>
        </p:nvSpPr>
        <p:spPr>
          <a:xfrm>
            <a:off x="6142355" y="3917315"/>
            <a:ext cx="1310005" cy="457200"/>
          </a:xfrm>
          <a:prstGeom prst="rect">
            <a:avLst/>
          </a:prstGeom>
          <a:solidFill>
            <a:srgbClr val="2D7A4F"/>
          </a:solidFill>
        </p:spPr>
      </p:sp>
      <p:sp>
        <p:nvSpPr>
          <p:cNvPr id="34" name="Text 32"/>
          <p:cNvSpPr/>
          <p:nvPr>
            <p:custDataLst>
              <p:tags r:id="rId30"/>
            </p:custDataLst>
          </p:nvPr>
        </p:nvSpPr>
        <p:spPr>
          <a:xfrm>
            <a:off x="6142355" y="3917315"/>
            <a:ext cx="131381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Wiki/文档</a:t>
            </a:r>
            <a:endParaRPr lang="en-US" sz="1100" dirty="0"/>
          </a:p>
        </p:txBody>
      </p:sp>
      <p:sp>
        <p:nvSpPr>
          <p:cNvPr id="35" name="Shape 33"/>
          <p:cNvSpPr/>
          <p:nvPr>
            <p:custDataLst>
              <p:tags r:id="rId31"/>
            </p:custDataLst>
          </p:nvPr>
        </p:nvSpPr>
        <p:spPr>
          <a:xfrm>
            <a:off x="8140065" y="3551555"/>
            <a:ext cx="0" cy="320040"/>
          </a:xfrm>
          <a:prstGeom prst="line">
            <a:avLst/>
          </a:prstGeom>
          <a:noFill/>
          <a:ln w="19050">
            <a:solidFill>
              <a:srgbClr val="6BB3F0"/>
            </a:solidFill>
            <a:prstDash val="solid"/>
          </a:ln>
        </p:spPr>
      </p:sp>
      <p:sp>
        <p:nvSpPr>
          <p:cNvPr id="36" name="Text 34"/>
          <p:cNvSpPr/>
          <p:nvPr>
            <p:custDataLst>
              <p:tags r:id="rId32"/>
            </p:custDataLst>
          </p:nvPr>
        </p:nvSpPr>
        <p:spPr>
          <a:xfrm>
            <a:off x="7679055" y="3597275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B3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否</a:t>
            </a:r>
            <a:endParaRPr lang="en-US" sz="1000" dirty="0"/>
          </a:p>
        </p:txBody>
      </p:sp>
      <p:sp>
        <p:nvSpPr>
          <p:cNvPr id="37" name="Shape 35"/>
          <p:cNvSpPr/>
          <p:nvPr>
            <p:custDataLst>
              <p:tags r:id="rId33"/>
            </p:custDataLst>
          </p:nvPr>
        </p:nvSpPr>
        <p:spPr>
          <a:xfrm>
            <a:off x="7646670" y="3917315"/>
            <a:ext cx="685165" cy="457200"/>
          </a:xfrm>
          <a:prstGeom prst="rect">
            <a:avLst/>
          </a:prstGeom>
          <a:solidFill>
            <a:srgbClr val="2D7A4F"/>
          </a:solidFill>
        </p:spPr>
      </p:sp>
      <p:sp>
        <p:nvSpPr>
          <p:cNvPr id="38" name="Text 36"/>
          <p:cNvSpPr/>
          <p:nvPr>
            <p:custDataLst>
              <p:tags r:id="rId34"/>
            </p:custDataLst>
          </p:nvPr>
        </p:nvSpPr>
        <p:spPr>
          <a:xfrm>
            <a:off x="7646035" y="3917315"/>
            <a:ext cx="66865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RAG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RAG 核心要点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37160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Chunk Size 调优：256~512 tokens 为经验最优区间</a:t>
            </a:r>
            <a:endParaRPr lang="en-US" sz="1600" dirty="0"/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两阶段检索：向量召回 Top-50 → Cross-Encoder 精排至 Top-5</a:t>
            </a:r>
            <a:endParaRPr lang="en-US" sz="1600" dirty="0"/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混合检索：向量相似度 + BM25 关键词匹配</a:t>
            </a:r>
            <a:endParaRPr lang="en-US" sz="1600" dirty="0"/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局限性：对关系推理弱、精确数值不稳定</a:t>
            </a:r>
            <a:endParaRPr lang="en-US" sz="1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9B233"/>
          </a:solidFill>
        </p:spPr>
      </p:sp>
      <p:sp>
        <p:nvSpPr>
          <p:cNvPr id="3" name="Text 1"/>
          <p:cNvSpPr/>
          <p:nvPr/>
        </p:nvSpPr>
        <p:spPr>
          <a:xfrm>
            <a:off x="457200" y="731520"/>
            <a:ext cx="2286000" cy="182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0" b="1" dirty="0">
                <a:solidFill>
                  <a:srgbClr val="4A90D9">
                    <a:alpha val="70000"/>
                  </a:srgb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548640" y="301752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A0B4D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第六章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0" y="1828800"/>
            <a:ext cx="59436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Agent 工具体系 — </a:t>
            </a:r>
            <a:endParaRPr lang="en-US" sz="34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让 LLM"手脚并用"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2743200" y="3017520"/>
            <a:ext cx="1828800" cy="0"/>
          </a:xfrm>
          <a:prstGeom prst="line">
            <a:avLst/>
          </a:prstGeom>
          <a:noFill/>
          <a:ln w="38100">
            <a:solidFill>
              <a:srgbClr val="F9B233"/>
            </a:solidFill>
            <a:prstDash val="solid"/>
          </a:ln>
        </p:spPr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三层能力调用体系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137160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0" y="914400"/>
            <a:ext cx="4572000" cy="914400"/>
          </a:xfrm>
          <a:prstGeom prst="rect">
            <a:avLst/>
          </a:prstGeom>
          <a:solidFill>
            <a:srgbClr val="4A90D9"/>
          </a:solidFill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286000" y="914400"/>
            <a:ext cx="45720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Skill (能力契约)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高层：任务级能力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286000" y="2011680"/>
            <a:ext cx="4572000" cy="914400"/>
          </a:xfrm>
          <a:prstGeom prst="rect">
            <a:avLst/>
          </a:prstGeom>
          <a:solidFill>
            <a:srgbClr val="2E4080"/>
          </a:solidFill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286000" y="2011680"/>
            <a:ext cx="45720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MCP (远程 API)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中层：标准化接口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286000" y="3108960"/>
            <a:ext cx="4572000" cy="914400"/>
          </a:xfrm>
          <a:prstGeom prst="rect">
            <a:avLst/>
          </a:prstGeom>
          <a:solidFill>
            <a:srgbClr val="283A6E"/>
          </a:solidFill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286000" y="3108960"/>
            <a:ext cx="45720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Function Calling (本地函数)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低层：原子操作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040880" y="118872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0B4D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声明"能做什么"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040880" y="22860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0B4D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远程服务调用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040880" y="338328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0B4D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本地函数调用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F9B2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三者不是互斥的，而是互补共存的分层体系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Function Calling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37160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graphicFrame>
        <p:nvGraphicFramePr>
          <p:cNvPr id="37" name="Table 0"/>
          <p:cNvGraphicFramePr>
            <a:graphicFrameLocks noGrp="1"/>
          </p:cNvGraphicFramePr>
          <p:nvPr/>
        </p:nvGraphicFramePr>
        <p:xfrm>
          <a:off x="457200" y="1097280"/>
          <a:ext cx="8229600" cy="3474720"/>
        </p:xfrm>
        <a:graphic>
          <a:graphicData uri="http://schemas.openxmlformats.org/drawingml/2006/table">
            <a:tbl>
              <a:tblPr/>
              <a:tblGrid>
                <a:gridCol w="1371600"/>
                <a:gridCol w="6858000"/>
              </a:tblGrid>
              <a:tr h="6949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维度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说明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D9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本质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LLM 调用本地可执行函数的机制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A6E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优点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低延迟、高可靠性、简单易用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50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缺点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扩展性差、生态封闭、大量注册会占 token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A6E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适用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内部工具、性能敏感型应用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5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MCP（Model Context Protocol）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37160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graphicFrame>
        <p:nvGraphicFramePr>
          <p:cNvPr id="38" name="Table 0"/>
          <p:cNvGraphicFramePr>
            <a:graphicFrameLocks noGrp="1"/>
          </p:cNvGraphicFramePr>
          <p:nvPr/>
        </p:nvGraphicFramePr>
        <p:xfrm>
          <a:off x="457200" y="1097280"/>
          <a:ext cx="8229600" cy="3474720"/>
        </p:xfrm>
        <a:graphic>
          <a:graphicData uri="http://schemas.openxmlformats.org/drawingml/2006/table">
            <a:tbl>
              <a:tblPr/>
              <a:tblGrid>
                <a:gridCol w="1371600"/>
                <a:gridCol w="6858000"/>
              </a:tblGrid>
              <a:tr h="6949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维度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说明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D9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本质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调用符合统一协议的远程服务的标准化接口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A6E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优点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跨平台/跨语言、可共享复用、支持企业级治理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50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缺点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额外网络延迟、部署复杂、依赖远程服务稳定性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A6E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适用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企业级工具集成、跨团队共享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5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Skill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37160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graphicFrame>
        <p:nvGraphicFramePr>
          <p:cNvPr id="39" name="Table 0"/>
          <p:cNvGraphicFramePr>
            <a:graphicFrameLocks noGrp="1"/>
          </p:cNvGraphicFramePr>
          <p:nvPr/>
        </p:nvGraphicFramePr>
        <p:xfrm>
          <a:off x="457200" y="1097280"/>
          <a:ext cx="8229600" cy="3474720"/>
        </p:xfrm>
        <a:graphic>
          <a:graphicData uri="http://schemas.openxmlformats.org/drawingml/2006/table">
            <a:tbl>
              <a:tblPr/>
              <a:tblGrid>
                <a:gridCol w="1371600"/>
                <a:gridCol w="6858000"/>
              </a:tblGrid>
              <a:tr h="6949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维度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说明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D9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本质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面向任务的高层抽象，"声明与实现分离"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A6E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优点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实现自由（本地/远程）、支持复杂编排、对 LLM 友好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50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缺点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框架依赖强、性能不可控、调试复杂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A6E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适用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复杂业务流程、可复用任务模板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5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Rule vs Skill —— Agent 的"法律"与"手脚"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37160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graphicFrame>
        <p:nvGraphicFramePr>
          <p:cNvPr id="40" name="Table 0"/>
          <p:cNvGraphicFramePr>
            <a:graphicFrameLocks noGrp="1"/>
          </p:cNvGraphicFramePr>
          <p:nvPr/>
        </p:nvGraphicFramePr>
        <p:xfrm>
          <a:off x="457200" y="1097280"/>
          <a:ext cx="8229600" cy="3474720"/>
        </p:xfrm>
        <a:graphic>
          <a:graphicData uri="http://schemas.openxmlformats.org/drawingml/2006/table">
            <a:tbl>
              <a:tblPr/>
              <a:tblGrid>
                <a:gridCol w="1828800"/>
                <a:gridCol w="3200400"/>
                <a:gridCol w="3200400"/>
              </a:tblGrid>
              <a:tr h="6949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维度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Rule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Skill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D9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本质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策略/约束（非执行性）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功能/工具（可执行）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A6E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回答的问题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该不该做？（Should I？）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怎么做？（How to？）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50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作用时机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决策前、调用前、输出后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任务执行中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A6E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失败后果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行为失控、违规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功能异常、系统错误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5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三者协同架构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137160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0" y="822960"/>
            <a:ext cx="1828800" cy="548640"/>
          </a:xfrm>
          <a:prstGeom prst="rect">
            <a:avLst/>
          </a:prstGeom>
          <a:solidFill>
            <a:srgbClr val="4A90D9"/>
          </a:solidFill>
        </p:spPr>
      </p:sp>
      <p:sp>
        <p:nvSpPr>
          <p:cNvPr id="6" name="Text 4"/>
          <p:cNvSpPr/>
          <p:nvPr/>
        </p:nvSpPr>
        <p:spPr>
          <a:xfrm>
            <a:off x="3200400" y="822960"/>
            <a:ext cx="1828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LLM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0" y="1371600"/>
            <a:ext cx="635" cy="35941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0" y="1737360"/>
            <a:ext cx="3657600" cy="640080"/>
          </a:xfrm>
          <a:prstGeom prst="rect">
            <a:avLst/>
          </a:prstGeom>
          <a:solidFill>
            <a:srgbClr val="2E4080"/>
          </a:solidFill>
        </p:spPr>
      </p:sp>
      <p:sp>
        <p:nvSpPr>
          <p:cNvPr id="9" name="Text 7"/>
          <p:cNvSpPr/>
          <p:nvPr/>
        </p:nvSpPr>
        <p:spPr>
          <a:xfrm>
            <a:off x="2286000" y="1737360"/>
            <a:ext cx="3657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Skill (高层能力契约)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 flipH="1">
            <a:off x="1699895" y="2384425"/>
            <a:ext cx="612775" cy="467995"/>
          </a:xfrm>
          <a:prstGeom prst="line">
            <a:avLst/>
          </a:prstGeom>
          <a:noFill/>
          <a:ln w="19050">
            <a:solidFill>
              <a:srgbClr val="6BB3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40860" y="2368550"/>
            <a:ext cx="283845" cy="511175"/>
          </a:xfrm>
          <a:prstGeom prst="line">
            <a:avLst/>
          </a:prstGeom>
          <a:noFill/>
          <a:ln w="19050">
            <a:solidFill>
              <a:srgbClr val="6BB3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5505" y="2376805"/>
            <a:ext cx="1322070" cy="501015"/>
          </a:xfrm>
          <a:prstGeom prst="line">
            <a:avLst/>
          </a:prstGeom>
          <a:noFill/>
          <a:ln w="19050">
            <a:solidFill>
              <a:srgbClr val="6BB3F0"/>
            </a:solidFill>
            <a:prstDash val="solid"/>
          </a:ln>
        </p:spPr>
      </p:sp>
      <p:sp>
        <p:nvSpPr>
          <p:cNvPr id="13" name="Shape 11"/>
          <p:cNvSpPr/>
          <p:nvPr>
            <p:custDataLst>
              <p:tags r:id="rId1"/>
            </p:custDataLst>
          </p:nvPr>
        </p:nvSpPr>
        <p:spPr>
          <a:xfrm>
            <a:off x="731520" y="2852420"/>
            <a:ext cx="2743200" cy="502920"/>
          </a:xfrm>
          <a:prstGeom prst="rect">
            <a:avLst/>
          </a:prstGeom>
          <a:solidFill>
            <a:srgbClr val="283A6E"/>
          </a:solidFill>
        </p:spPr>
      </p:sp>
      <p:sp>
        <p:nvSpPr>
          <p:cNvPr id="14" name="Text 12"/>
          <p:cNvSpPr/>
          <p:nvPr>
            <p:custDataLst>
              <p:tags r:id="rId2"/>
            </p:custDataLst>
          </p:nvPr>
        </p:nvSpPr>
        <p:spPr>
          <a:xfrm>
            <a:off x="731520" y="2852420"/>
            <a:ext cx="2743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Function Calling (本地)</a:t>
            </a:r>
            <a:endParaRPr lang="en-US" sz="1100" dirty="0"/>
          </a:p>
        </p:txBody>
      </p:sp>
      <p:sp>
        <p:nvSpPr>
          <p:cNvPr id="15" name="Shape 13"/>
          <p:cNvSpPr/>
          <p:nvPr>
            <p:custDataLst>
              <p:tags r:id="rId3"/>
            </p:custDataLst>
          </p:nvPr>
        </p:nvSpPr>
        <p:spPr>
          <a:xfrm>
            <a:off x="3749040" y="2852420"/>
            <a:ext cx="2286000" cy="502920"/>
          </a:xfrm>
          <a:prstGeom prst="rect">
            <a:avLst/>
          </a:prstGeom>
          <a:solidFill>
            <a:srgbClr val="283A6E"/>
          </a:solidFill>
        </p:spPr>
      </p:sp>
      <p:sp>
        <p:nvSpPr>
          <p:cNvPr id="16" name="Text 14"/>
          <p:cNvSpPr/>
          <p:nvPr>
            <p:custDataLst>
              <p:tags r:id="rId4"/>
            </p:custDataLst>
          </p:nvPr>
        </p:nvSpPr>
        <p:spPr>
          <a:xfrm>
            <a:off x="3749040" y="2852420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MCP (远程)</a:t>
            </a:r>
            <a:endParaRPr lang="en-US" sz="1100" dirty="0"/>
          </a:p>
        </p:txBody>
      </p:sp>
      <p:sp>
        <p:nvSpPr>
          <p:cNvPr id="17" name="Shape 15"/>
          <p:cNvSpPr/>
          <p:nvPr>
            <p:custDataLst>
              <p:tags r:id="rId5"/>
            </p:custDataLst>
          </p:nvPr>
        </p:nvSpPr>
        <p:spPr>
          <a:xfrm>
            <a:off x="6217920" y="2852420"/>
            <a:ext cx="2011680" cy="502920"/>
          </a:xfrm>
          <a:prstGeom prst="rect">
            <a:avLst/>
          </a:prstGeom>
          <a:solidFill>
            <a:srgbClr val="283A6E"/>
          </a:solidFill>
        </p:spPr>
      </p:sp>
      <p:sp>
        <p:nvSpPr>
          <p:cNvPr id="18" name="Text 16"/>
          <p:cNvSpPr/>
          <p:nvPr>
            <p:custDataLst>
              <p:tags r:id="rId6"/>
            </p:custDataLst>
          </p:nvPr>
        </p:nvSpPr>
        <p:spPr>
          <a:xfrm>
            <a:off x="6217920" y="2852420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Sub-Agent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3742055"/>
            <a:ext cx="7508875" cy="80010"/>
          </a:xfrm>
          <a:prstGeom prst="rect">
            <a:avLst/>
          </a:prstGeom>
          <a:solidFill>
            <a:srgbClr val="3D5A9E"/>
          </a:solidFill>
        </p:spPr>
      </p:sp>
      <p:sp>
        <p:nvSpPr>
          <p:cNvPr id="20" name="Shape 18"/>
          <p:cNvSpPr/>
          <p:nvPr/>
        </p:nvSpPr>
        <p:spPr>
          <a:xfrm>
            <a:off x="1229360" y="3931920"/>
            <a:ext cx="2743200" cy="548640"/>
          </a:xfrm>
          <a:prstGeom prst="rect">
            <a:avLst/>
          </a:prstGeom>
          <a:solidFill>
            <a:srgbClr val="B85042"/>
          </a:solidFill>
        </p:spPr>
      </p:sp>
      <p:sp>
        <p:nvSpPr>
          <p:cNvPr id="21" name="Text 19"/>
          <p:cNvSpPr/>
          <p:nvPr/>
        </p:nvSpPr>
        <p:spPr>
          <a:xfrm>
            <a:off x="1229360" y="393192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Rule Manager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(前置注入)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86960" y="3931920"/>
            <a:ext cx="2743200" cy="548640"/>
          </a:xfrm>
          <a:prstGeom prst="rect">
            <a:avLst/>
          </a:prstGeom>
          <a:solidFill>
            <a:srgbClr val="B85042"/>
          </a:solidFill>
        </p:spPr>
      </p:sp>
      <p:sp>
        <p:nvSpPr>
          <p:cNvPr id="23" name="Text 21"/>
          <p:cNvSpPr/>
          <p:nvPr/>
        </p:nvSpPr>
        <p:spPr>
          <a:xfrm>
            <a:off x="4886960" y="393192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Guardrail Engine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(后置硬校验)</a:t>
            </a:r>
            <a:endParaRPr lang="en-US" sz="11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283A6E">
              <a:alpha val="60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4A90D9">
              <a:alpha val="25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457200" y="457200"/>
            <a:ext cx="91440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0" b="1" dirty="0">
                <a:solidFill>
                  <a:srgbClr val="F9B233">
                    <a:alpha val="60000"/>
                  </a:srgb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“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680960" cy="182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真正的智能体系统，不是让 LLM 知道所有细节，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而是让它知道"有哪些能力可用"。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A0B4D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由框架高效、安全、灵活地执行。</a:t>
            </a:r>
            <a:endParaRPr lang="en-US" sz="13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9B233"/>
          </a:solidFill>
        </p:spPr>
      </p:sp>
      <p:sp>
        <p:nvSpPr>
          <p:cNvPr id="3" name="Text 1"/>
          <p:cNvSpPr/>
          <p:nvPr/>
        </p:nvSpPr>
        <p:spPr>
          <a:xfrm>
            <a:off x="457200" y="731520"/>
            <a:ext cx="2286000" cy="182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0" b="1" dirty="0">
                <a:solidFill>
                  <a:srgbClr val="4A90D9">
                    <a:alpha val="70000"/>
                  </a:srgb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07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548640" y="301752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A0B4D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第七章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0" y="1828800"/>
            <a:ext cx="59436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Hook 与安全治理 —</a:t>
            </a:r>
            <a:endParaRPr lang="en-US" sz="34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Agent 的"神经系统"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2743200" y="3017520"/>
            <a:ext cx="1828800" cy="0"/>
          </a:xfrm>
          <a:prstGeom prst="line">
            <a:avLst/>
          </a:prstGeom>
          <a:noFill/>
          <a:ln w="38100">
            <a:solidFill>
              <a:srgbClr val="F9B233"/>
            </a:solidFill>
            <a:prstDash val="solid"/>
          </a:ln>
        </p:spPr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什么是 Agent Hook？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37160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定义：Agent 预设的标准回调点，在关键流程节点插入自定义逻辑</a:t>
            </a:r>
            <a:endParaRPr lang="en-US" sz="1600" dirty="0"/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本质：非侵入式的"事件监听 + 控制干预"机制</a:t>
            </a:r>
            <a:endParaRPr lang="en-US" sz="1600" dirty="0"/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谁调用：Agent 框架（非 LLM），LLM 对 Hook 完全无感</a:t>
            </a:r>
            <a:endParaRPr lang="en-US" sz="16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Hook 解决什么问题？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37160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graphicFrame>
        <p:nvGraphicFramePr>
          <p:cNvPr id="45" name="Table 0"/>
          <p:cNvGraphicFramePr>
            <a:graphicFrameLocks noGrp="1"/>
          </p:cNvGraphicFramePr>
          <p:nvPr/>
        </p:nvGraphicFramePr>
        <p:xfrm>
          <a:off x="457200" y="1097280"/>
          <a:ext cx="8229600" cy="3474720"/>
        </p:xfrm>
        <a:graphic>
          <a:graphicData uri="http://schemas.openxmlformats.org/drawingml/2006/table">
            <a:tbl>
              <a:tblPr/>
              <a:tblGrid>
                <a:gridCol w="3200400"/>
                <a:gridCol w="5029200"/>
              </a:tblGrid>
              <a:tr h="6949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问题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Hook 如何解决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D9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无法统一监控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after_model_response 记录日志、统计耗时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A6E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安全策略难落地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before_tool_call 拦截高危操作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50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上下文注入困难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before_prompt_build 注入权限/实时数据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A6E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合规审计缺失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on_user_input / on_final_output 调用审核服务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5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常见 Hook 节点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137160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350" y="1645920"/>
            <a:ext cx="1371600" cy="731520"/>
          </a:xfrm>
          <a:prstGeom prst="rect">
            <a:avLst/>
          </a:prstGeom>
          <a:solidFill>
            <a:srgbClr val="283A6E"/>
          </a:solidFill>
        </p:spPr>
      </p:sp>
      <p:sp>
        <p:nvSpPr>
          <p:cNvPr id="6" name="Text 4"/>
          <p:cNvSpPr/>
          <p:nvPr/>
        </p:nvSpPr>
        <p:spPr>
          <a:xfrm>
            <a:off x="768350" y="1645920"/>
            <a:ext cx="1371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on_user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_input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139950" y="2011680"/>
            <a:ext cx="45720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22830" y="1645920"/>
            <a:ext cx="1371600" cy="731520"/>
          </a:xfrm>
          <a:prstGeom prst="rect">
            <a:avLst/>
          </a:prstGeom>
          <a:solidFill>
            <a:srgbClr val="283A6E"/>
          </a:solidFill>
        </p:spPr>
      </p:sp>
      <p:sp>
        <p:nvSpPr>
          <p:cNvPr id="9" name="Text 7"/>
          <p:cNvSpPr/>
          <p:nvPr/>
        </p:nvSpPr>
        <p:spPr>
          <a:xfrm>
            <a:off x="2322830" y="1645920"/>
            <a:ext cx="1371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before_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prompt_build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94430" y="2011680"/>
            <a:ext cx="45720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77310" y="1645920"/>
            <a:ext cx="1371600" cy="731520"/>
          </a:xfrm>
          <a:prstGeom prst="rect">
            <a:avLst/>
          </a:prstGeom>
          <a:solidFill>
            <a:srgbClr val="283A6E"/>
          </a:solidFill>
        </p:spPr>
      </p:sp>
      <p:sp>
        <p:nvSpPr>
          <p:cNvPr id="12" name="Text 10"/>
          <p:cNvSpPr/>
          <p:nvPr/>
        </p:nvSpPr>
        <p:spPr>
          <a:xfrm>
            <a:off x="3877310" y="1645920"/>
            <a:ext cx="1371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before_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model_call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248910" y="2011680"/>
            <a:ext cx="45720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40350" y="1645920"/>
            <a:ext cx="1371600" cy="731520"/>
          </a:xfrm>
          <a:prstGeom prst="rect">
            <a:avLst/>
          </a:prstGeom>
          <a:solidFill>
            <a:srgbClr val="2D7A4F"/>
          </a:solidFill>
        </p:spPr>
      </p:sp>
      <p:sp>
        <p:nvSpPr>
          <p:cNvPr id="15" name="Text 13"/>
          <p:cNvSpPr/>
          <p:nvPr/>
        </p:nvSpPr>
        <p:spPr>
          <a:xfrm>
            <a:off x="5340350" y="1645920"/>
            <a:ext cx="1371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LLM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推理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711950" y="2011680"/>
            <a:ext cx="45720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03390" y="1645920"/>
            <a:ext cx="1371600" cy="731520"/>
          </a:xfrm>
          <a:prstGeom prst="rect">
            <a:avLst/>
          </a:prstGeom>
          <a:solidFill>
            <a:srgbClr val="283A6E"/>
          </a:solidFill>
        </p:spPr>
      </p:sp>
      <p:sp>
        <p:nvSpPr>
          <p:cNvPr id="18" name="Text 16"/>
          <p:cNvSpPr/>
          <p:nvPr/>
        </p:nvSpPr>
        <p:spPr>
          <a:xfrm>
            <a:off x="6803390" y="1645920"/>
            <a:ext cx="1371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after_model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_response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489190" y="2377440"/>
            <a:ext cx="0" cy="36576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322830" y="3017520"/>
            <a:ext cx="1554480" cy="731520"/>
          </a:xfrm>
          <a:prstGeom prst="rect">
            <a:avLst/>
          </a:prstGeom>
          <a:solidFill>
            <a:srgbClr val="283A6E"/>
          </a:solidFill>
        </p:spPr>
      </p:sp>
      <p:sp>
        <p:nvSpPr>
          <p:cNvPr id="22" name="Text 20"/>
          <p:cNvSpPr/>
          <p:nvPr/>
        </p:nvSpPr>
        <p:spPr>
          <a:xfrm>
            <a:off x="2322830" y="3017520"/>
            <a:ext cx="15544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before_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tool_call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877310" y="3383280"/>
            <a:ext cx="27432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51630" y="3017520"/>
            <a:ext cx="1554480" cy="731520"/>
          </a:xfrm>
          <a:prstGeom prst="rect">
            <a:avLst/>
          </a:prstGeom>
          <a:solidFill>
            <a:srgbClr val="283A6E"/>
          </a:solidFill>
        </p:spPr>
      </p:sp>
      <p:sp>
        <p:nvSpPr>
          <p:cNvPr id="25" name="Text 23"/>
          <p:cNvSpPr/>
          <p:nvPr/>
        </p:nvSpPr>
        <p:spPr>
          <a:xfrm>
            <a:off x="4151630" y="3017520"/>
            <a:ext cx="15544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after_tool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_execute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706110" y="3383280"/>
            <a:ext cx="27432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80430" y="3017520"/>
            <a:ext cx="1554480" cy="731520"/>
          </a:xfrm>
          <a:prstGeom prst="rect">
            <a:avLst/>
          </a:prstGeom>
          <a:solidFill>
            <a:srgbClr val="283A6E"/>
          </a:solidFill>
        </p:spPr>
      </p:sp>
      <p:sp>
        <p:nvSpPr>
          <p:cNvPr id="28" name="Text 26"/>
          <p:cNvSpPr/>
          <p:nvPr/>
        </p:nvSpPr>
        <p:spPr>
          <a:xfrm>
            <a:off x="5980430" y="3017520"/>
            <a:ext cx="15544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on_final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_output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A0B4D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每个节点都可注册多个 Hook，按优先级排序执行。支持运行时动态启用/禁用。</a:t>
            </a:r>
            <a:endParaRPr lang="en-US" sz="1200" dirty="0"/>
          </a:p>
        </p:txBody>
      </p:sp>
      <p:sp>
        <p:nvSpPr>
          <p:cNvPr id="30" name="Shape 17"/>
          <p:cNvSpPr/>
          <p:nvPr/>
        </p:nvSpPr>
        <p:spPr>
          <a:xfrm rot="5400000">
            <a:off x="4897755" y="172720"/>
            <a:ext cx="29210" cy="517779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Hook 使用原则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37160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只做协调、检查、记录，不实现核心业务</a:t>
            </a:r>
            <a:endParaRPr lang="en-US" sz="1600" dirty="0"/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单个 Hook 报错不应导致 Agent 崩溃（错误隔离）</a:t>
            </a:r>
            <a:endParaRPr lang="en-US" sz="1600" dirty="0"/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避免在关键路径 Hook 中做复杂计算（性能敏感）</a:t>
            </a:r>
            <a:endParaRPr lang="en-US" sz="1600" dirty="0"/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多个 Hook 之间需设计执行顺序（安全优先于日志）</a:t>
            </a:r>
            <a:endParaRPr lang="en-US" sz="16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9B233"/>
          </a:solidFill>
        </p:spPr>
      </p:sp>
      <p:sp>
        <p:nvSpPr>
          <p:cNvPr id="3" name="Text 1"/>
          <p:cNvSpPr/>
          <p:nvPr/>
        </p:nvSpPr>
        <p:spPr>
          <a:xfrm>
            <a:off x="457200" y="731520"/>
            <a:ext cx="2286000" cy="182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0" b="1" dirty="0">
                <a:solidFill>
                  <a:srgbClr val="4A90D9">
                    <a:alpha val="70000"/>
                  </a:srgb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08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548640" y="301752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A0B4D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第八章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0" y="1828800"/>
            <a:ext cx="59436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总结与最佳实践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2743200" y="3017520"/>
            <a:ext cx="1828800" cy="0"/>
          </a:xfrm>
          <a:prstGeom prst="line">
            <a:avLst/>
          </a:prstGeom>
          <a:noFill/>
          <a:ln w="38100">
            <a:solidFill>
              <a:srgbClr val="F9B233"/>
            </a:solidFill>
            <a:prstDash val="solid"/>
          </a:ln>
        </p:spPr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三大核心理念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37160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LLM 是无状态的，Agent 是有状态的 —— Agent 通过上下文管理弥补 LLM 的无状态特性</a:t>
            </a:r>
            <a:endParaRPr lang="en-US" sz="1600" dirty="0"/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上下文管理的本质是"信息调度" —— 在有限窗口内，最大化信息效用、最小化推理偏差</a:t>
            </a:r>
            <a:endParaRPr lang="en-US" sz="1600" dirty="0"/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体系化设计 &gt; 单点优化 —— Rule/Skill/Hook/Memory 需协同设计，而非各自为战</a:t>
            </a:r>
            <a:endParaRPr lang="en-US" sz="16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关键实践建议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37160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graphicFrame>
        <p:nvGraphicFramePr>
          <p:cNvPr id="51" name="Table 0"/>
          <p:cNvGraphicFramePr>
            <a:graphicFrameLocks noGrp="1"/>
          </p:cNvGraphicFramePr>
          <p:nvPr/>
        </p:nvGraphicFramePr>
        <p:xfrm>
          <a:off x="457200" y="1097280"/>
          <a:ext cx="8229600" cy="3474723"/>
        </p:xfrm>
        <a:graphic>
          <a:graphicData uri="http://schemas.openxmlformats.org/drawingml/2006/table">
            <a:tbl>
              <a:tblPr/>
              <a:tblGrid>
                <a:gridCol w="2743200"/>
                <a:gridCol w="5486400"/>
              </a:tblGrid>
              <a:tr h="4963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原则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具体做法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D9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永远显式处理上下文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构建 prompt 后、调用 LLM 前，主动计算 token 并裁剪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A6E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保护不可丢内容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System Prompt + 当前 query + 上轮回复 必须保留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50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混合策略优先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滑动窗口 + 摘要 + 重要性过滤 组合使用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A6E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同步规划 Rule 与 Skill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设计 Agent 时，策略与能力同步定义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50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结构化管理记忆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优先结构化存储，而非原始文本堆砌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A6E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Hook 做治理层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监控、安全、合规通过 Hook 实现，不侵入核心逻辑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0">
                    <a:lnL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5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4A90D9">
              <a:alpha val="30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283A6E">
              <a:alpha val="50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9B233"/>
          </a:solidFill>
        </p:spPr>
      </p:sp>
      <p:sp>
        <p:nvSpPr>
          <p:cNvPr id="5" name="Text 3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谢谢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 &amp; A</a:t>
            </a:r>
            <a:endParaRPr lang="en-US" sz="22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36.45,&quot;left&quot;:48.05,&quot;top&quot;:108,&quot;width&quot;:637.7}"/>
</p:tagLst>
</file>

<file path=ppt/tags/tag2.xml><?xml version="1.0" encoding="utf-8"?>
<p:tagLst xmlns:p="http://schemas.openxmlformats.org/presentationml/2006/main">
  <p:tag name="KSO_WM_DIAGRAM_VIRTUALLY_FRAME" val="{&quot;height&quot;:236.45,&quot;left&quot;:48.05,&quot;top&quot;:108,&quot;width&quot;:637.7}"/>
</p:tagLst>
</file>

<file path=ppt/tags/tag3.xml><?xml version="1.0" encoding="utf-8"?>
<p:tagLst xmlns:p="http://schemas.openxmlformats.org/presentationml/2006/main">
  <p:tag name="KSO_WM_DIAGRAM_VIRTUALLY_FRAME" val="{&quot;height&quot;:236.45,&quot;left&quot;:48.05,&quot;top&quot;:108,&quot;width&quot;:637.7}"/>
</p:tagLst>
</file>

<file path=ppt/tags/tag4.xml><?xml version="1.0" encoding="utf-8"?>
<p:tagLst xmlns:p="http://schemas.openxmlformats.org/presentationml/2006/main">
  <p:tag name="KSO_WM_DIAGRAM_VIRTUALLY_FRAME" val="{&quot;height&quot;:236.45,&quot;left&quot;:48.05,&quot;top&quot;:108,&quot;width&quot;:637.7}"/>
</p:tagLst>
</file>

<file path=ppt/tags/tag5.xml><?xml version="1.0" encoding="utf-8"?>
<p:tagLst xmlns:p="http://schemas.openxmlformats.org/presentationml/2006/main">
  <p:tag name="KSO_WM_DIAGRAM_VIRTUALLY_FRAME" val="{&quot;height&quot;:236.45,&quot;left&quot;:48.05,&quot;top&quot;:108,&quot;width&quot;:637.7}"/>
</p:tagLst>
</file>

<file path=ppt/tags/tag6.xml><?xml version="1.0" encoding="utf-8"?>
<p:tagLst xmlns:p="http://schemas.openxmlformats.org/presentationml/2006/main">
  <p:tag name="KSO_WM_DIAGRAM_VIRTUALLY_FRAME" val="{&quot;height&quot;:236.45,&quot;left&quot;:48.05,&quot;top&quot;:108,&quot;width&quot;:637.7}"/>
</p:tagLst>
</file>

<file path=ppt/tags/tag7.xml><?xml version="1.0" encoding="utf-8"?>
<p:tagLst xmlns:p="http://schemas.openxmlformats.org/presentationml/2006/main">
  <p:tag name="KSO_WM_DIAGRAM_VIRTUALLY_FRAME" val="{&quot;height&quot;:236.45,&quot;left&quot;:48.05,&quot;top&quot;:108,&quot;width&quot;:637.7}"/>
</p:tagLst>
</file>

<file path=ppt/tags/tag8.xml><?xml version="1.0" encoding="utf-8"?>
<p:tagLst xmlns:p="http://schemas.openxmlformats.org/presentationml/2006/main">
  <p:tag name="KSO_WM_DIAGRAM_VIRTUALLY_FRAME" val="{&quot;height&quot;:236.45,&quot;left&quot;:48.05,&quot;top&quot;:108,&quot;width&quot;:637.7}"/>
</p:tagLst>
</file>

<file path=ppt/tags/tag9.xml><?xml version="1.0" encoding="utf-8"?>
<p:tagLst xmlns:p="http://schemas.openxmlformats.org/presentationml/2006/main">
  <p:tag name="KSO_WM_DIAGRAM_VIRTUALLY_FRAME" val="{&quot;height&quot;:236.45,&quot;left&quot;:48.05,&quot;top&quot;:108,&quot;width&quot;:637.7}"/>
</p:tagLst>
</file>

<file path=ppt/tags/tag10.xml><?xml version="1.0" encoding="utf-8"?>
<p:tagLst xmlns:p="http://schemas.openxmlformats.org/presentationml/2006/main">
  <p:tag name="KSO_WM_DIAGRAM_VIRTUALLY_FRAME" val="{&quot;height&quot;:236.45,&quot;left&quot;:48.05,&quot;top&quot;:108,&quot;width&quot;:637.7}"/>
</p:tagLst>
</file>

<file path=ppt/tags/tag11.xml><?xml version="1.0" encoding="utf-8"?>
<p:tagLst xmlns:p="http://schemas.openxmlformats.org/presentationml/2006/main">
  <p:tag name="KSO_WM_DIAGRAM_VIRTUALLY_FRAME" val="{&quot;height&quot;:236.45,&quot;left&quot;:48.05,&quot;top&quot;:108,&quot;width&quot;:637.7}"/>
</p:tagLst>
</file>

<file path=ppt/tags/tag12.xml><?xml version="1.0" encoding="utf-8"?>
<p:tagLst xmlns:p="http://schemas.openxmlformats.org/presentationml/2006/main">
  <p:tag name="KSO_WM_DIAGRAM_VIRTUALLY_FRAME" val="{&quot;height&quot;:236.45,&quot;left&quot;:48.05,&quot;top&quot;:108,&quot;width&quot;:637.7}"/>
</p:tagLst>
</file>

<file path=ppt/tags/tag13.xml><?xml version="1.0" encoding="utf-8"?>
<p:tagLst xmlns:p="http://schemas.openxmlformats.org/presentationml/2006/main">
  <p:tag name="KSO_WM_DIAGRAM_VIRTUALLY_FRAME" val="{&quot;height&quot;:236.45,&quot;left&quot;:48.05,&quot;top&quot;:108,&quot;width&quot;:637.7}"/>
</p:tagLst>
</file>

<file path=ppt/tags/tag14.xml><?xml version="1.0" encoding="utf-8"?>
<p:tagLst xmlns:p="http://schemas.openxmlformats.org/presentationml/2006/main">
  <p:tag name="KSO_WM_DIAGRAM_VIRTUALLY_FRAME" val="{&quot;height&quot;:236.45,&quot;left&quot;:48.05,&quot;top&quot;:108,&quot;width&quot;:637.7}"/>
</p:tagLst>
</file>

<file path=ppt/tags/tag15.xml><?xml version="1.0" encoding="utf-8"?>
<p:tagLst xmlns:p="http://schemas.openxmlformats.org/presentationml/2006/main">
  <p:tag name="KSO_WM_DIAGRAM_VIRTUALLY_FRAME" val="{&quot;height&quot;:236.45,&quot;left&quot;:48.05,&quot;top&quot;:108,&quot;width&quot;:637.7}"/>
</p:tagLst>
</file>

<file path=ppt/tags/tag16.xml><?xml version="1.0" encoding="utf-8"?>
<p:tagLst xmlns:p="http://schemas.openxmlformats.org/presentationml/2006/main">
  <p:tag name="KSO_WM_DIAGRAM_VIRTUALLY_FRAME" val="{&quot;height&quot;:236.45,&quot;left&quot;:48.05,&quot;top&quot;:108,&quot;width&quot;:637.7}"/>
</p:tagLst>
</file>

<file path=ppt/tags/tag17.xml><?xml version="1.0" encoding="utf-8"?>
<p:tagLst xmlns:p="http://schemas.openxmlformats.org/presentationml/2006/main">
  <p:tag name="KSO_WM_DIAGRAM_VIRTUALLY_FRAME" val="{&quot;height&quot;:236.45,&quot;left&quot;:48.05,&quot;top&quot;:108,&quot;width&quot;:637.7}"/>
</p:tagLst>
</file>

<file path=ppt/tags/tag18.xml><?xml version="1.0" encoding="utf-8"?>
<p:tagLst xmlns:p="http://schemas.openxmlformats.org/presentationml/2006/main">
  <p:tag name="KSO_WM_DIAGRAM_VIRTUALLY_FRAME" val="{&quot;height&quot;:236.45,&quot;left&quot;:48.05,&quot;top&quot;:108,&quot;width&quot;:637.7}"/>
</p:tagLst>
</file>

<file path=ppt/tags/tag19.xml><?xml version="1.0" encoding="utf-8"?>
<p:tagLst xmlns:p="http://schemas.openxmlformats.org/presentationml/2006/main">
  <p:tag name="KSO_WM_DIAGRAM_VIRTUALLY_FRAME" val="{&quot;height&quot;:236.45,&quot;left&quot;:48.05,&quot;top&quot;:108,&quot;width&quot;:637.7}"/>
</p:tagLst>
</file>

<file path=ppt/tags/tag20.xml><?xml version="1.0" encoding="utf-8"?>
<p:tagLst xmlns:p="http://schemas.openxmlformats.org/presentationml/2006/main">
  <p:tag name="KSO_WM_DIAGRAM_VIRTUALLY_FRAME" val="{&quot;height&quot;:236.45,&quot;left&quot;:48.05,&quot;top&quot;:108,&quot;width&quot;:637.7}"/>
</p:tagLst>
</file>

<file path=ppt/tags/tag21.xml><?xml version="1.0" encoding="utf-8"?>
<p:tagLst xmlns:p="http://schemas.openxmlformats.org/presentationml/2006/main">
  <p:tag name="KSO_WM_DIAGRAM_VIRTUALLY_FRAME" val="{&quot;height&quot;:236.45,&quot;left&quot;:48.05,&quot;top&quot;:108,&quot;width&quot;:637.7}"/>
</p:tagLst>
</file>

<file path=ppt/tags/tag22.xml><?xml version="1.0" encoding="utf-8"?>
<p:tagLst xmlns:p="http://schemas.openxmlformats.org/presentationml/2006/main">
  <p:tag name="KSO_WM_DIAGRAM_VIRTUALLY_FRAME" val="{&quot;height&quot;:236.45,&quot;left&quot;:48.05,&quot;top&quot;:108,&quot;width&quot;:637.7}"/>
</p:tagLst>
</file>

<file path=ppt/tags/tag23.xml><?xml version="1.0" encoding="utf-8"?>
<p:tagLst xmlns:p="http://schemas.openxmlformats.org/presentationml/2006/main">
  <p:tag name="KSO_WM_DIAGRAM_VIRTUALLY_FRAME" val="{&quot;height&quot;:236.45,&quot;left&quot;:48.05,&quot;top&quot;:108,&quot;width&quot;:637.7}"/>
</p:tagLst>
</file>

<file path=ppt/tags/tag24.xml><?xml version="1.0" encoding="utf-8"?>
<p:tagLst xmlns:p="http://schemas.openxmlformats.org/presentationml/2006/main">
  <p:tag name="KSO_WM_DIAGRAM_VIRTUALLY_FRAME" val="{&quot;height&quot;:236.45,&quot;left&quot;:48.05,&quot;top&quot;:108,&quot;width&quot;:637.7}"/>
</p:tagLst>
</file>

<file path=ppt/tags/tag25.xml><?xml version="1.0" encoding="utf-8"?>
<p:tagLst xmlns:p="http://schemas.openxmlformats.org/presentationml/2006/main">
  <p:tag name="KSO_WM_DIAGRAM_VIRTUALLY_FRAME" val="{&quot;height&quot;:236.45,&quot;left&quot;:48.05,&quot;top&quot;:108,&quot;width&quot;:637.7}"/>
</p:tagLst>
</file>

<file path=ppt/tags/tag26.xml><?xml version="1.0" encoding="utf-8"?>
<p:tagLst xmlns:p="http://schemas.openxmlformats.org/presentationml/2006/main">
  <p:tag name="KSO_WM_DIAGRAM_VIRTUALLY_FRAME" val="{&quot;height&quot;:236.45,&quot;left&quot;:48.05,&quot;top&quot;:108,&quot;width&quot;:637.7}"/>
</p:tagLst>
</file>

<file path=ppt/tags/tag27.xml><?xml version="1.0" encoding="utf-8"?>
<p:tagLst xmlns:p="http://schemas.openxmlformats.org/presentationml/2006/main">
  <p:tag name="KSO_WM_DIAGRAM_VIRTUALLY_FRAME" val="{&quot;height&quot;:236.45,&quot;left&quot;:48.05,&quot;top&quot;:108,&quot;width&quot;:637.7}"/>
</p:tagLst>
</file>

<file path=ppt/tags/tag28.xml><?xml version="1.0" encoding="utf-8"?>
<p:tagLst xmlns:p="http://schemas.openxmlformats.org/presentationml/2006/main">
  <p:tag name="KSO_WM_DIAGRAM_VIRTUALLY_FRAME" val="{&quot;height&quot;:236.45,&quot;left&quot;:48.05,&quot;top&quot;:108,&quot;width&quot;:637.7}"/>
</p:tagLst>
</file>

<file path=ppt/tags/tag29.xml><?xml version="1.0" encoding="utf-8"?>
<p:tagLst xmlns:p="http://schemas.openxmlformats.org/presentationml/2006/main">
  <p:tag name="KSO_WM_DIAGRAM_VIRTUALLY_FRAME" val="{&quot;height&quot;:236.45,&quot;left&quot;:48.05,&quot;top&quot;:108,&quot;width&quot;:637.7}"/>
</p:tagLst>
</file>

<file path=ppt/tags/tag30.xml><?xml version="1.0" encoding="utf-8"?>
<p:tagLst xmlns:p="http://schemas.openxmlformats.org/presentationml/2006/main">
  <p:tag name="KSO_WM_DIAGRAM_VIRTUALLY_FRAME" val="{&quot;height&quot;:236.45,&quot;left&quot;:48.05,&quot;top&quot;:108,&quot;width&quot;:637.7}"/>
</p:tagLst>
</file>

<file path=ppt/tags/tag31.xml><?xml version="1.0" encoding="utf-8"?>
<p:tagLst xmlns:p="http://schemas.openxmlformats.org/presentationml/2006/main">
  <p:tag name="KSO_WM_DIAGRAM_VIRTUALLY_FRAME" val="{&quot;height&quot;:236.45,&quot;left&quot;:48.05,&quot;top&quot;:108,&quot;width&quot;:637.7}"/>
</p:tagLst>
</file>

<file path=ppt/tags/tag32.xml><?xml version="1.0" encoding="utf-8"?>
<p:tagLst xmlns:p="http://schemas.openxmlformats.org/presentationml/2006/main">
  <p:tag name="KSO_WM_DIAGRAM_VIRTUALLY_FRAME" val="{&quot;height&quot;:236.45,&quot;left&quot;:48.05,&quot;top&quot;:108,&quot;width&quot;:637.7}"/>
</p:tagLst>
</file>

<file path=ppt/tags/tag33.xml><?xml version="1.0" encoding="utf-8"?>
<p:tagLst xmlns:p="http://schemas.openxmlformats.org/presentationml/2006/main">
  <p:tag name="KSO_WM_DIAGRAM_VIRTUALLY_FRAME" val="{&quot;height&quot;:236.45,&quot;left&quot;:48.05,&quot;top&quot;:108,&quot;width&quot;:637.7}"/>
</p:tagLst>
</file>

<file path=ppt/tags/tag34.xml><?xml version="1.0" encoding="utf-8"?>
<p:tagLst xmlns:p="http://schemas.openxmlformats.org/presentationml/2006/main">
  <p:tag name="KSO_WM_DIAGRAM_VIRTUALLY_FRAME" val="{&quot;height&quot;:236.45,&quot;left&quot;:48.05,&quot;top&quot;:108,&quot;width&quot;:637.7}"/>
</p:tagLst>
</file>

<file path=ppt/tags/tag35.xml><?xml version="1.0" encoding="utf-8"?>
<p:tagLst xmlns:p="http://schemas.openxmlformats.org/presentationml/2006/main">
  <p:tag name="KSO_WM_DIAGRAM_VIRTUALLY_FRAME" val="{&quot;height&quot;:44.6,&quot;left&quot;:29.9,&quot;top&quot;:219.6,&quot;width&quot;:668.5}"/>
</p:tagLst>
</file>

<file path=ppt/tags/tag36.xml><?xml version="1.0" encoding="utf-8"?>
<p:tagLst xmlns:p="http://schemas.openxmlformats.org/presentationml/2006/main">
  <p:tag name="KSO_WM_DIAGRAM_VIRTUALLY_FRAME" val="{&quot;height&quot;:44.6,&quot;left&quot;:29.9,&quot;top&quot;:219.6,&quot;width&quot;:668.5}"/>
</p:tagLst>
</file>

<file path=ppt/tags/tag37.xml><?xml version="1.0" encoding="utf-8"?>
<p:tagLst xmlns:p="http://schemas.openxmlformats.org/presentationml/2006/main">
  <p:tag name="KSO_WM_DIAGRAM_VIRTUALLY_FRAME" val="{&quot;height&quot;:44.6,&quot;left&quot;:29.9,&quot;top&quot;:219.6,&quot;width&quot;:668.5}"/>
</p:tagLst>
</file>

<file path=ppt/tags/tag38.xml><?xml version="1.0" encoding="utf-8"?>
<p:tagLst xmlns:p="http://schemas.openxmlformats.org/presentationml/2006/main">
  <p:tag name="KSO_WM_DIAGRAM_VIRTUALLY_FRAME" val="{&quot;height&quot;:44.6,&quot;left&quot;:29.9,&quot;top&quot;:219.6,&quot;width&quot;:668.5}"/>
</p:tagLst>
</file>

<file path=ppt/tags/tag39.xml><?xml version="1.0" encoding="utf-8"?>
<p:tagLst xmlns:p="http://schemas.openxmlformats.org/presentationml/2006/main">
  <p:tag name="KSO_WM_DIAGRAM_VIRTUALLY_FRAME" val="{&quot;height&quot;:44.6,&quot;left&quot;:29.9,&quot;top&quot;:219.6,&quot;width&quot;:668.5}"/>
</p:tagLst>
</file>

<file path=ppt/tags/tag40.xml><?xml version="1.0" encoding="utf-8"?>
<p:tagLst xmlns:p="http://schemas.openxmlformats.org/presentationml/2006/main">
  <p:tag name="KSO_WM_DIAGRAM_VIRTUALLY_FRAME" val="{&quot;height&quot;:44.6,&quot;left&quot;:29.9,&quot;top&quot;:219.6,&quot;width&quot;:668.5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4807</Words>
  <Application>WPS 演示</Application>
  <PresentationFormat>On-screen Show (16:9)</PresentationFormat>
  <Paragraphs>789</Paragraphs>
  <Slides>48</Slides>
  <Notes>51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48</vt:i4>
      </vt:variant>
    </vt:vector>
  </HeadingPairs>
  <TitlesOfParts>
    <vt:vector size="61" baseType="lpstr">
      <vt:lpstr>Arial</vt:lpstr>
      <vt:lpstr>宋体</vt:lpstr>
      <vt:lpstr>Wingdings</vt:lpstr>
      <vt:lpstr>Calibri</vt:lpstr>
      <vt:lpstr>Calibri</vt:lpstr>
      <vt:lpstr>Calibri</vt:lpstr>
      <vt:lpstr>Consolas</vt:lpstr>
      <vt:lpstr>Consolas</vt:lpstr>
      <vt:lpstr>Consolas</vt:lpstr>
      <vt:lpstr>微软雅黑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 上下文管理培训</dc:title>
  <dc:creator>AI Training Team</dc:creator>
  <dc:subject>PptxGenJS Presentation</dc:subject>
  <cp:lastModifiedBy>崔津铭</cp:lastModifiedBy>
  <cp:revision>22</cp:revision>
  <dcterms:created xsi:type="dcterms:W3CDTF">2026-05-17T05:42:00Z</dcterms:created>
  <dcterms:modified xsi:type="dcterms:W3CDTF">2026-05-17T06:32:43Z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179B1C7F195F4A509D44FC19FEF6F33F_13</vt:lpwstr>
  </property>
</Properties>
</file>