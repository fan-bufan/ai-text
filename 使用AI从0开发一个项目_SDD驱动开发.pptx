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B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使用AI从0开发一个项目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的思想和方法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SDD驱动开发 —— 从思想到实践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AI开发的本质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1/15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686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工具变了，但交付结果没有变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200"/>
              </a:lnSpc>
              <a:spcAft>
                <a:spcPts val="400"/>
              </a:spcAft>
              <a:defRPr sz="18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不是「AI开发」，而是「用AI做开发」</a:t>
            </a:r>
          </a:p>
          <a:p>
            <a:pPr algn="ctr">
              <a:lnSpc>
                <a:spcPts val="3200"/>
              </a:lnSpc>
              <a:spcAft>
                <a:spcPts val="400"/>
              </a:spcAft>
              <a:defRPr sz="16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交付物依然是：可运行的系统、高质量的代码、可维护的架构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变与不变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哪些变了？哪些没变？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2/15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82880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✦  变了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097280" y="2418080"/>
            <a:ext cx="4389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工具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键盘 → 对话式交互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流程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串行接力 → 并行迭代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方法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手写代码 → AI生成 + 人工审查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效率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指数级提升</a:t>
            </a: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400800" y="182880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766560" y="201168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66BB6A"/>
                </a:solidFill>
                <a:latin typeface="微软雅黑" panose="020B0503020204020204" charset="-122"/>
              </a:defRPr>
            </a:pPr>
            <a:r>
              <a:t>✦  没变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766560" y="2418080"/>
            <a:ext cx="43891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交付物质量要求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可运行、高质量、可维护的软件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设计资源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架构设计、技术选型、模式与方法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技术栈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Java / Spring / MySQL / Redis ...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▸ 质量底线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    测试覆盖、可维护性、安全性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836920"/>
            <a:ext cx="100584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核心结论：变与不变之间，协作模式与交付效率已发生根本性变化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回顾：软件工程30年方法论变迁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从瀑布到SDD，规格越来越前置，编码越来越后置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3/15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t>1990s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瀑布模型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731520" y="3108960"/>
            <a:ext cx="2286000" cy="25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731520" y="329184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需求→设计→编码→测试</a:t>
            </a:r>
            <a:br/>
            <a:r>
              <a:t>串行，变更成本极高</a:t>
            </a: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3383280" y="20116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2000s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敏捷开发</a:t>
            </a: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3566160" y="3108960"/>
            <a:ext cx="2286000" cy="25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3566160" y="329184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迭代交付，拥抱变化</a:t>
            </a:r>
            <a:br/>
            <a:r>
              <a:t>团队自组织，持续集成</a:t>
            </a:r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217920" y="20116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4D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2010s</a:t>
            </a: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DevOps</a:t>
            </a:r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400800" y="3108960"/>
            <a:ext cx="2286000" cy="25400"/>
          </a:xfrm>
          <a:prstGeom prst="rect">
            <a:avLst/>
          </a:prstGeom>
          <a:solidFill>
            <a:srgbClr val="4D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00800" y="329184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开发+运维一体化</a:t>
            </a:r>
            <a:br/>
            <a:r>
              <a:t>CI/CD，自动化部署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0116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2020s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SDD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10896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29184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规格驱动开发</a:t>
            </a:r>
            <a:br/>
            <a:r>
              <a:t>设计前置，AI编码，测试左移</a:t>
            </a: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3198495" y="3383280"/>
            <a:ext cx="27622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>
            <p:custDataLst>
              <p:tags r:id="rId17"/>
            </p:custDataLst>
          </p:nvPr>
        </p:nvSpPr>
        <p:spPr>
          <a:xfrm>
            <a:off x="6013450" y="3383280"/>
            <a:ext cx="29591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>
            <p:custDataLst>
              <p:tags r:id="rId18"/>
            </p:custDataLst>
          </p:nvPr>
        </p:nvSpPr>
        <p:spPr>
          <a:xfrm>
            <a:off x="8859520" y="3383280"/>
            <a:ext cx="28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趋势：规格越来越前置，编码越来越后置。SDD 是这一趋势的自然延伸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什么是 SDD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Specification-Driven Development — 规格驱动开发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先写规格说明书，再写代码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2615" y="1828800"/>
            <a:ext cx="4477385" cy="4114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6445" y="2011680"/>
            <a:ext cx="403923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完整规格包含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6445" y="2468880"/>
            <a:ext cx="4039235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560"/>
              </a:lnSpc>
              <a:spcAft>
                <a:spcPts val="400"/>
              </a:spcAft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• PRD / 业务流程</a:t>
            </a:r>
          </a:p>
          <a:p>
            <a:pPr algn="l">
              <a:lnSpc>
                <a:spcPts val="256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• 基础设施架构（网络/存储/安全/可观察/可运维）</a:t>
            </a:r>
          </a:p>
          <a:p>
            <a:pPr algn="l">
              <a:lnSpc>
                <a:spcPts val="256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• 故障恢复与错误处理</a:t>
            </a:r>
          </a:p>
          <a:p>
            <a:pPr algn="l">
              <a:lnSpc>
                <a:spcPts val="256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• 交付物（接口 / UI）</a:t>
            </a:r>
          </a:p>
          <a:p>
            <a:pPr algn="l">
              <a:lnSpc>
                <a:spcPts val="256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• 数据流设计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74675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Aft>
                <a:spcPts val="400"/>
              </a:spcAft>
              <a:defRPr sz="18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Spec = 详细设计说明书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不是简单的需求文档，而是涵盖架构、数据、可运维性的完整设计描述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SDD驱动下的五大变化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采用SDD方法论后，项目发生了哪些根本性变化？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5/15</a:t>
            </a:r>
          </a:p>
        </p:txBody>
      </p:sp>
      <p:sp>
        <p:nvSpPr>
          <p:cNvPr id="26" name="矩形 25"/>
          <p:cNvSpPr/>
          <p:nvPr/>
        </p:nvSpPr>
        <p:spPr>
          <a:xfrm>
            <a:off x="640080" y="1889125"/>
            <a:ext cx="11103610" cy="461073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7" name="TextBox 5"/>
          <p:cNvSpPr txBox="1"/>
          <p:nvPr>
            <p:custDataLst>
              <p:tags r:id="rId1"/>
            </p:custDataLst>
          </p:nvPr>
        </p:nvSpPr>
        <p:spPr>
          <a:xfrm>
            <a:off x="762635" y="20802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8" name="TextBox 7"/>
          <p:cNvSpPr txBox="1"/>
          <p:nvPr>
            <p:custDataLst>
              <p:tags r:id="rId2"/>
            </p:custDataLst>
          </p:nvPr>
        </p:nvSpPr>
        <p:spPr>
          <a:xfrm>
            <a:off x="1494155" y="20802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团队规模变小变薄</a:t>
            </a:r>
          </a:p>
        </p:txBody>
      </p:sp>
      <p:sp>
        <p:nvSpPr>
          <p:cNvPr id="29" name="TextBox 8"/>
          <p:cNvSpPr txBox="1"/>
          <p:nvPr>
            <p:custDataLst>
              <p:tags r:id="rId3"/>
            </p:custDataLst>
          </p:nvPr>
        </p:nvSpPr>
        <p:spPr>
          <a:xfrm>
            <a:off x="5243195" y="210566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编码工作减少，设计+测试前置，团队结构更精简</a:t>
            </a:r>
          </a:p>
        </p:txBody>
      </p:sp>
      <p:sp>
        <p:nvSpPr>
          <p:cNvPr id="30" name="TextBox 9"/>
          <p:cNvSpPr txBox="1"/>
          <p:nvPr>
            <p:custDataLst>
              <p:tags r:id="rId4"/>
            </p:custDataLst>
          </p:nvPr>
        </p:nvSpPr>
        <p:spPr>
          <a:xfrm>
            <a:off x="762635" y="29946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1" name="TextBox 11"/>
          <p:cNvSpPr txBox="1"/>
          <p:nvPr>
            <p:custDataLst>
              <p:tags r:id="rId5"/>
            </p:custDataLst>
          </p:nvPr>
        </p:nvSpPr>
        <p:spPr>
          <a:xfrm>
            <a:off x="1494155" y="29946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设计和测试时间明显变长</a:t>
            </a:r>
          </a:p>
        </p:txBody>
      </p:sp>
      <p:sp>
        <p:nvSpPr>
          <p:cNvPr id="32" name="TextBox 12"/>
          <p:cNvSpPr txBox="1"/>
          <p:nvPr>
            <p:custDataLst>
              <p:tags r:id="rId6"/>
            </p:custDataLst>
          </p:nvPr>
        </p:nvSpPr>
        <p:spPr>
          <a:xfrm>
            <a:off x="5243195" y="302006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Spec编写与推演、测试用例设计成为核心工作</a:t>
            </a:r>
          </a:p>
        </p:txBody>
      </p:sp>
      <p:sp>
        <p:nvSpPr>
          <p:cNvPr id="33" name="TextBox 13"/>
          <p:cNvSpPr txBox="1"/>
          <p:nvPr>
            <p:custDataLst>
              <p:tags r:id="rId7"/>
            </p:custDataLst>
          </p:nvPr>
        </p:nvSpPr>
        <p:spPr>
          <a:xfrm>
            <a:off x="762635" y="39090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4" name="TextBox 15"/>
          <p:cNvSpPr txBox="1"/>
          <p:nvPr>
            <p:custDataLst>
              <p:tags r:id="rId8"/>
            </p:custDataLst>
          </p:nvPr>
        </p:nvSpPr>
        <p:spPr>
          <a:xfrm>
            <a:off x="1494155" y="39090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项目组织协调方式重大变化</a:t>
            </a:r>
          </a:p>
        </p:txBody>
      </p:sp>
      <p:sp>
        <p:nvSpPr>
          <p:cNvPr id="35" name="TextBox 16"/>
          <p:cNvSpPr txBox="1"/>
          <p:nvPr>
            <p:custDataLst>
              <p:tags r:id="rId9"/>
            </p:custDataLst>
          </p:nvPr>
        </p:nvSpPr>
        <p:spPr>
          <a:xfrm>
            <a:off x="5243195" y="393446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从「人-人协作」到「人-AI-人」三层协作模式</a:t>
            </a:r>
          </a:p>
        </p:txBody>
      </p:sp>
      <p:sp>
        <p:nvSpPr>
          <p:cNvPr id="36" name="TextBox 17"/>
          <p:cNvSpPr txBox="1"/>
          <p:nvPr>
            <p:custDataLst>
              <p:tags r:id="rId10"/>
            </p:custDataLst>
          </p:nvPr>
        </p:nvSpPr>
        <p:spPr>
          <a:xfrm>
            <a:off x="762635" y="48234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7" name="TextBox 19"/>
          <p:cNvSpPr txBox="1"/>
          <p:nvPr>
            <p:custDataLst>
              <p:tags r:id="rId11"/>
            </p:custDataLst>
          </p:nvPr>
        </p:nvSpPr>
        <p:spPr>
          <a:xfrm>
            <a:off x="1494155" y="48234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需求变更难度大幅降低</a:t>
            </a:r>
          </a:p>
        </p:txBody>
      </p:sp>
      <p:sp>
        <p:nvSpPr>
          <p:cNvPr id="38" name="TextBox 20"/>
          <p:cNvSpPr txBox="1"/>
          <p:nvPr>
            <p:custDataLst>
              <p:tags r:id="rId12"/>
            </p:custDataLst>
          </p:nvPr>
        </p:nvSpPr>
        <p:spPr>
          <a:xfrm>
            <a:off x="5243195" y="484886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Spec迭代成本远低于代码重构成本</a:t>
            </a:r>
          </a:p>
        </p:txBody>
      </p:sp>
      <p:sp>
        <p:nvSpPr>
          <p:cNvPr id="39" name="TextBox 21"/>
          <p:cNvSpPr txBox="1"/>
          <p:nvPr>
            <p:custDataLst>
              <p:tags r:id="rId13"/>
            </p:custDataLst>
          </p:nvPr>
        </p:nvSpPr>
        <p:spPr>
          <a:xfrm>
            <a:off x="762635" y="573786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0" name="TextBox 23"/>
          <p:cNvSpPr txBox="1"/>
          <p:nvPr>
            <p:custDataLst>
              <p:tags r:id="rId14"/>
            </p:custDataLst>
          </p:nvPr>
        </p:nvSpPr>
        <p:spPr>
          <a:xfrm>
            <a:off x="1494155" y="57378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交付效率大幅提升</a:t>
            </a:r>
          </a:p>
        </p:txBody>
      </p:sp>
      <p:sp>
        <p:nvSpPr>
          <p:cNvPr id="41" name="TextBox 24"/>
          <p:cNvSpPr txBox="1"/>
          <p:nvPr>
            <p:custDataLst>
              <p:tags r:id="rId15"/>
            </p:custDataLst>
          </p:nvPr>
        </p:nvSpPr>
        <p:spPr>
          <a:xfrm>
            <a:off x="5243195" y="576326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AI承担80%编码体力活，人专注决策与审查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SDD vs 传统开发：全流程对比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设计前置 + 测试左移 + 编码压缩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83055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传统开发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891030" cy="82296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280" y="2089150"/>
            <a:ext cx="180975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280" y="2409190"/>
            <a:ext cx="180975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0</a:t>
            </a:r>
            <a:r>
              <a:t>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6375" y="2011680"/>
            <a:ext cx="5514975" cy="822960"/>
          </a:xfrm>
          <a:prstGeom prst="roundRect">
            <a:avLst>
              <a:gd name="adj" fmla="val 4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5285" y="2089150"/>
            <a:ext cx="51435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5285" y="2409190"/>
            <a:ext cx="51435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70</a:t>
            </a:r>
            <a: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0" y="2043430"/>
            <a:ext cx="1589405" cy="822960"/>
          </a:xfrm>
          <a:prstGeom prst="roundRect">
            <a:avLst>
              <a:gd name="adj" fmla="val 4000"/>
            </a:avLst>
          </a:prstGeom>
          <a:solidFill>
            <a:srgbClr val="66BB6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2D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3935" y="2089150"/>
            <a:ext cx="148717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3935" y="2440940"/>
            <a:ext cx="148717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9670" y="2194560"/>
            <a:ext cx="3073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48840"/>
            <a:ext cx="2971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9045" y="2148840"/>
            <a:ext cx="284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865" y="30632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SDD 开发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7472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78225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2">
                    <a:lumMod val="75000"/>
                  </a:schemeClr>
                </a:solidFill>
              </a:rPr>
              <a:t>设计+Spec</a:t>
            </a:r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3898265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40%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474720"/>
            <a:ext cx="2011680" cy="822960"/>
          </a:xfrm>
          <a:prstGeom prst="roundRect">
            <a:avLst>
              <a:gd name="adj" fmla="val 4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578225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编码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98265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r>
              <a:t>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474720"/>
            <a:ext cx="3474720" cy="822960"/>
          </a:xfrm>
          <a:prstGeom prst="roundRect">
            <a:avLst>
              <a:gd name="adj" fmla="val 4000"/>
            </a:avLst>
          </a:prstGeom>
          <a:solidFill>
            <a:srgbClr val="66BB6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578225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898265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40</a:t>
            </a:r>
            <a:r>
              <a:t>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0" y="3474720"/>
            <a:ext cx="1554480" cy="82296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3578225"/>
            <a:ext cx="136080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上线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898265"/>
            <a:ext cx="136080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r>
              <a:t>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611880"/>
            <a:ext cx="182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11880"/>
            <a:ext cx="18224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611880"/>
            <a:ext cx="18224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54880"/>
            <a:ext cx="5029200" cy="73152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rgbClr val="909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937760"/>
            <a:ext cx="137604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◇ 串行接力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36750" y="49377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瀑布式，前一阶段完成才能进入下一阶段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754880"/>
            <a:ext cx="5211445" cy="73152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937760"/>
            <a:ext cx="125857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◆ 并行迭代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9377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设计+测试贯穿始终，编码只是执行层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607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57875"/>
            <a:ext cx="10332720" cy="35496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核心差异：SDD = 设计前置 + 测试左移 + 编码压缩  →  测试不再是最后「堵漏」，而是贯穿全程的质量保障</a:t>
            </a:r>
          </a:p>
        </p:txBody>
      </p:sp>
      <p:sp>
        <p:nvSpPr>
          <p:cNvPr id="46" name="Rounded Rectangle 12"/>
          <p:cNvSpPr/>
          <p:nvPr/>
        </p:nvSpPr>
        <p:spPr>
          <a:xfrm>
            <a:off x="10440035" y="2043430"/>
            <a:ext cx="1589405" cy="82296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13"/>
          <p:cNvSpPr txBox="1"/>
          <p:nvPr/>
        </p:nvSpPr>
        <p:spPr>
          <a:xfrm>
            <a:off x="10491470" y="2120900"/>
            <a:ext cx="148717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rPr lang="zh-CN"/>
              <a:t>上线</a:t>
            </a:r>
            <a:endParaRPr lang="zh-CN"/>
          </a:p>
        </p:txBody>
      </p:sp>
      <p:sp>
        <p:nvSpPr>
          <p:cNvPr id="48" name="TextBox 14"/>
          <p:cNvSpPr txBox="1"/>
          <p:nvPr/>
        </p:nvSpPr>
        <p:spPr>
          <a:xfrm>
            <a:off x="10491470" y="2440940"/>
            <a:ext cx="148717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rPr lang="en-US"/>
              <a:t>10</a:t>
            </a:r>
            <a:r>
              <a:t>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SDD项目的特点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什么样的项目适合SDD？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7/15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424160" cy="109728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01  便于人机交互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9601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项目需要自描述：开发规范、项目索引、设计文档、</a:t>
            </a:r>
            <a:br/>
            <a:r>
              <a:t>测试计划、用户手册——人和机器都能看懂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424160" cy="109728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66BB6A"/>
                </a:solidFill>
                <a:latin typeface="微软雅黑" panose="020B0503020204020204" charset="-122"/>
              </a:defRPr>
            </a:pPr>
            <a:r>
              <a:t>02  大量测试用例覆盖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9601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自动化测试是第一质量保障手段，</a:t>
            </a:r>
            <a:br/>
            <a:r>
              <a:t>测试用例即文档，用例即规范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424160" cy="109728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A726"/>
                </a:solidFill>
                <a:latin typeface="微软雅黑" panose="020B0503020204020204" charset="-122"/>
              </a:defRPr>
            </a:pPr>
            <a:r>
              <a:t>03  设计→编码→测试反复迭代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57800"/>
            <a:ext cx="9601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不是一次性交付，而是渐进式逼近目标，</a:t>
            </a:r>
            <a:br/>
            <a:r>
              <a:t>每一轮迭代缩小差距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面对SDD应有的心态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思想转变是前提——这不是换工具，是换思维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8/15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3627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角色转换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475488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人写代码 → 机器写代码，人指挥+检查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62801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66BB6A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放弃一次成功幻想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606040"/>
            <a:ext cx="4754880" cy="127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接受AI失误，渐进式探索，精确要求，缩小差距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6178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A72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不当甩手掌柜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00600"/>
            <a:ext cx="4754880" cy="127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AI = 985实习生，不是万能机</a:t>
            </a:r>
            <a:br/>
            <a:r>
              <a:t>完全依赖AI不切实际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62801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EF5350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3434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质量保障新范式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800600"/>
            <a:ext cx="4754880" cy="127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37760"/>
            <a:ext cx="4754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大量自动化测试兜底</a:t>
            </a:r>
            <a:br/>
            <a:r>
              <a:t>人做最后防线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AI开发方法论：两种方案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选择取决于项目阶段与上下文质量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9/15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方案A：人主导，AI辅助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适合场景：已有项目迭代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上下文来源：风格迥异的代码、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原有文档、数据库、提示词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AI角色：编码辅助 + 代码补全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方案B：人兜底，AI主导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适合场景：新项目从0构建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上下文来源：规范的需求与设计文档、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详细测试用例、规范代码、老代码参考</a:t>
            </a:r>
          </a:p>
          <a:p>
            <a:pPr algn="l">
              <a:lnSpc>
                <a:spcPts val="2400"/>
              </a:lnSpc>
              <a:spcAft>
                <a:spcPts val="400"/>
              </a:spcAft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AI角色：从Spec到代码全流程生成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155680" cy="13716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AI的三个特点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✦  超强基础能力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≈985博士水平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4864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✦  基于上下文推理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607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弥补人脑思考力不足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4864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✦  快速干体力活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76072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编码、检查、测试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3215" y="4389120"/>
            <a:ext cx="6465570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t"/>
          <a:lstStyle/>
          <a:p>
            <a:pPr algn="ctr">
              <a:defRPr sz="15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FF0000"/>
                </a:solidFill>
              </a:rPr>
              <a:t>无论哪种方案，落脚点都是：构建高质量的上下文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核心：上下文是驱动AI工作的核心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上下文的「质」决定AI的「效」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方案A的上下文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方案B的上下文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069848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645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上下文来源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风格迥异的代码、原有文档</a:t>
            </a:r>
            <a:br/>
            <a:r>
              <a:t>数据库、提示词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规范的需求设计文档</a:t>
            </a:r>
            <a:br/>
            <a:r>
              <a:t>详细测试用例、规范代码</a:t>
            </a:r>
            <a:br/>
            <a:r>
              <a:t>规范提示词、老代码参考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1069848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645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上下文质量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5760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碎片化、风格不统一</a:t>
            </a:r>
            <a:br/>
            <a:r>
              <a:t>难以被AI高效利用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5760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结构化、风格统一</a:t>
            </a:r>
            <a:br/>
            <a:r>
              <a:t>AI可直接推理执行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1069848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645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4632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较低（AI需要大量猜测）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46320"/>
            <a:ext cx="4389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较高（AI按规格精确执行）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4DD0E0"/>
                </a:solidFill>
                <a:latin typeface="微软雅黑" panose="020B0503020204020204" charset="-122"/>
              </a:defRPr>
            </a:pPr>
            <a:r>
              <a:t>AI开发的核心工作 = 构建优质上下文 + 合理提示词驱动AI干体力活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怎么构建上下文：SDD完整链路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从Spec出发，沉淀Skill / Rule /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11/15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Specification（详细设计说明书）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PRD | 业务流程 | 基础设施架构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0604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交付物 | 数据流 | 可观察性 | 可运维性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故障恢复 | 错误处理 | 安全设计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公共问题 → Skill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310896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可复用的最佳实践</a:t>
            </a:r>
            <a:br/>
            <a:r>
              <a:t>命令式触发，如 /check-code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519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6BB6A"/>
                </a:solidFill>
                <a:latin typeface="微软雅黑" panose="020B0503020204020204" charset="-122"/>
              </a:defRPr>
            </a:pPr>
            <a:r>
              <a:t>底线规则 →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663440"/>
            <a:ext cx="3108960" cy="127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8006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全局约束条件</a:t>
            </a:r>
            <a:br/>
            <a:r>
              <a:t>始终生效，如命名规范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14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A726"/>
                </a:solidFill>
                <a:latin typeface="微软雅黑" panose="020B0503020204020204" charset="-122"/>
              </a:defRPr>
            </a:pPr>
            <a:r>
              <a:t>个人偏好 →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663440"/>
            <a:ext cx="3108960" cy="127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80060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本地环境与习惯</a:t>
            </a:r>
            <a:br/>
            <a:r>
              <a:t>跨会话持久化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需求探索：渐进式提问（开放式）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让AI帮你「想得更全」——探索阶段不怕绕路，怕漏掉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「帮我从XX、YY、ZZ三个角度扩展这个需求」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「关于XX需求，你认为逻辑闭环了吗？」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「这个方案是行业最佳实践吗？你有更好的方案吗？」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「这个点确认存在问题，但在这个项目里就这样，记住这一点」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「关于XX需求，我的决定是：XXXXXX」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「帮我对比方案A和方案B的优劣势」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执行指挥：封闭式提问（精确指挥）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执行阶段不要给AI开放式问题——你是决策者，AI是执行者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同意 / 继续执行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Review代码 / 使用/XXX-skill检查代码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同步文档 / 同步XX文档 / 执行测试计划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选择方案A / 整体同意，但XX点按XXX方式调整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「一直迭代XX需求，有明确答案的直接修改，不明确的问我」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424160" cy="594360"/>
          </a:xfrm>
          <a:prstGeom prst="roundRect">
            <a:avLst>
              <a:gd name="adj" fmla="val 4000"/>
            </a:avLst>
          </a:prstGeom>
          <a:solidFill>
            <a:srgbClr val="12172A"/>
          </a:solidFill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692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「帮我整理记忆，合并同类项，移除过期矛盾内容」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文档管理结构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好的项目结构 = 最好的上下文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424160" cy="481965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69264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项目大仓/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├── .qoder/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rules/        全局底线规则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skills/       公共问题最佳实践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└── plans/        方案计划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4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├── docs/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测试计划/     按项目组织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用户手册/     按项目组织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详细设计/     按项目+模块组织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├── API/          接口规范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│   └── 公共设计.md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4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├── 项目A/            源码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400" b="0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├── 项目B/            源码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└── README.md         项目索引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案例展示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从需求→Spec→编码→测试的完整SDD流程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3200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（演示环节：实际项目案例演示）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需求分析 → Spec编写 → AI编码 → Review → 自动化测试 → 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完整演示一个功能从0到上线的SDD全流程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总结与Q&amp;A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16/15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424160" cy="100584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1097280" y="208661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01  思想转变是前提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97280" y="2430145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AI是985实习生，不是万能机</a:t>
            </a:r>
            <a:br/>
            <a:r>
              <a:t>从「人写代码」到「人指挥+AI执行」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424160" cy="100584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097280" y="336677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00D4FF"/>
                </a:solidFill>
                <a:latin typeface="微软雅黑" panose="020B0503020204020204" charset="-122"/>
              </a:defRPr>
            </a:pPr>
            <a:r>
              <a:t>02  方法论是关键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097280" y="3710305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SDD驱动开发：先写Spec，再写代码</a:t>
            </a:r>
            <a:br/>
            <a:r>
              <a:t>构建高质量上下文 = AI开发的核心工作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424160" cy="1005840"/>
          </a:xfrm>
          <a:prstGeom prst="roundRect">
            <a:avLst>
              <a:gd name="adj" fmla="val 5000"/>
            </a:avLst>
          </a:prstGeom>
          <a:solidFill>
            <a:srgbClr val="12172A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1097280" y="464693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8ECF1"/>
                </a:solidFill>
                <a:latin typeface="微软雅黑" panose="020B0503020204020204" charset="-122"/>
              </a:defRPr>
            </a:pPr>
            <a:r>
              <a:t>03  实践出真知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1097280" y="4990465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09BB0"/>
                </a:solidFill>
                <a:latin typeface="微软雅黑" panose="020B0503020204020204" charset="-122"/>
              </a:defRPr>
            </a:pPr>
            <a:r>
              <a:t>从今天开始，把AI用起来</a:t>
            </a:r>
            <a:br/>
            <a:r>
              <a:t>不要怕第一次不完美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2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3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4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5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6.xml><?xml version="1.0" encoding="utf-8"?>
<p:tagLst xmlns:p="http://schemas.openxmlformats.org/presentationml/2006/main">
  <p:tag name="KSO_WM_DIAGRAM_VIRTUALLY_FRAME" val="{&quot;height&quot;:283.85,&quot;left&quot;:57.6,&quot;top&quot;:144,&quot;width&quot;:842.4}"/>
</p:tagLst>
</file>

<file path=ppt/tags/tag7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8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9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0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1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2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3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4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5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6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7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8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19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0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1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2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3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4.xml><?xml version="1.0" encoding="utf-8"?>
<p:tagLst xmlns:p="http://schemas.openxmlformats.org/presentationml/2006/main">
  <p:tag name="KSO_WM_DIAGRAM_VIRTUALLY_FRAME" val="{&quot;height&quot;:273.6,&quot;left&quot;:43.2,&quot;top&quot;:158.4,&quot;width&quot;:676.8}"/>
</p:tagLst>
</file>

<file path=ppt/tags/tag25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26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27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28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29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0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1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2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3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4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5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6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7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8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39.xml><?xml version="1.0" encoding="utf-8"?>
<p:tagLst xmlns:p="http://schemas.openxmlformats.org/presentationml/2006/main">
  <p:tag name="KSO_WM_DIAGRAM_VIRTUALLY_FRAME" val="{&quot;height&quot;:326,&quot;left&quot;:43.55,&quot;top&quot;:151.75,&quot;width&quot;:842.4}"/>
</p:tagLst>
</file>

<file path=ppt/tags/tag40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ags/tag41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ags/tag42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ags/tag43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ags/tag44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ags/tag45.xml><?xml version="1.0" encoding="utf-8"?>
<p:tagLst xmlns:p="http://schemas.openxmlformats.org/presentationml/2006/main">
  <p:tag name="KSO_WM_DIAGRAM_VIRTUALLY_FRAME" val="{&quot;height&quot;:271.3,&quot;left&quot;:86.4,&quot;top&quot;:164.3,&quot;width&quot;:7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3078</Words>
  <Application>WPS 演示</Application>
  <PresentationFormat>On-screen Show (4:3)</PresentationFormat>
  <Paragraphs>429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崔津铭</cp:lastModifiedBy>
  <cp:revision>23</cp:revision>
  <dcterms:created xsi:type="dcterms:W3CDTF">2013-01-27T09:14:00Z</dcterms:created>
  <dcterms:modified xsi:type="dcterms:W3CDTF">2026-06-03T09:27:15Z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5C427774E7684B759F57FCC7402608B6_12</vt:lpwstr>
  </property>
  <property fmtid="{D5CDD505-2E9C-101B-9397-08002B2CF9AE}" pid="3" name="KSOProductBuildVer">
    <vt:lpwstr>2052-12.1.0.26375</vt:lpwstr>
  </property>
</Properties>
</file>